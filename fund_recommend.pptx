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389120" cy="4389120"/>
          </a:xfrm>
          <a:prstGeom prst="ellipse">
            <a:avLst/>
          </a:prstGeom>
          <a:solidFill>
            <a:srgbClr val="2D3D6B">
              <a:alpha val="45000"/>
            </a:srgbClr>
          </a:solidFill>
          <a:ln w="12700">
            <a:solidFill>
              <a:srgbClr val="2D3D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2926080" cy="2926080"/>
          </a:xfrm>
          <a:prstGeom prst="ellipse">
            <a:avLst/>
          </a:prstGeom>
          <a:solidFill>
            <a:srgbClr val="2D3D6B">
              <a:alpha val="35000"/>
            </a:srgbClr>
          </a:solidFill>
          <a:ln w="12700">
            <a:solidFill>
              <a:srgbClr val="2D3D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A030"/>
                </a:solidFill>
              </a:rPr>
              <a:t>本月精選基金推薦　×　最適投資組合分析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" y="7315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四大基金深度介紹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37744" y="170078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</a:rPr>
              <a:t>最大夏普比率策略　最適投資組合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" y="2377440"/>
            <a:ext cx="8778240" cy="0"/>
          </a:xfrm>
          <a:prstGeom prst="line">
            <a:avLst/>
          </a:prstGeom>
          <a:noFill/>
          <a:ln w="19050">
            <a:solidFill>
              <a:srgbClr val="C8A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25237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</a:rPr>
              <a:t>推薦標的：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PIMCO收益增長（32%）｜ 路博邁次世代通訊（32%）｜ 國泰國泰（19.8%）｜ 安聯智慧城市收益（16.1%）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7744" y="29077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</a:rPr>
              <a:t>回測區間：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2023/05 ～ 2026/05（近3年）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7744" y="3291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</a:rPr>
              <a:t>投組績效：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年化報酬 32.04%　｜　年化波動 15.00%　｜　夏普比率 1.87　｜　最大回撤 -14.22%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7744" y="36758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</a:rPr>
              <a:t>配息現金流：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本金1,000萬　年領 NT$425,246　月均 NT$35,437（PIMCO 9% + 安聯 8.5% 月配）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37744" y="4686300"/>
            <a:ext cx="8796528" cy="0"/>
          </a:xfrm>
          <a:prstGeom prst="line">
            <a:avLst/>
          </a:prstGeom>
          <a:noFill/>
          <a:ln w="6350">
            <a:solidFill>
              <a:srgbClr val="3A4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4722876"/>
            <a:ext cx="8796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8AA"/>
                </a:solidFill>
              </a:rPr>
              <a:t>製作日期：2026/6/11　｜　本報告所有數據均基於歷史資料計算，不代表未來績效。僅供內部教育訓練使用，請勿外流。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基金一　｜　PIMCO收益增長基金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64592" y="713232"/>
            <a:ext cx="5074920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86384"/>
            <a:ext cx="1572768" cy="219456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863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股債混合 60/40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38528" y="786384"/>
            <a:ext cx="1572768" cy="219456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8528" y="7863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RR4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02736" y="786384"/>
            <a:ext cx="1572768" cy="219456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2736" y="7863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美元 月配息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042416"/>
            <a:ext cx="2450592" cy="201168"/>
          </a:xfrm>
          <a:prstGeom prst="rect">
            <a:avLst/>
          </a:prstGeom>
          <a:solidFill>
            <a:srgbClr val="E8EDF8"/>
          </a:solidFill>
          <a:ln w="6350">
            <a:solidFill>
              <a:srgbClr val="156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4241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A0"/>
                </a:solidFill>
              </a:rPr>
              <a:t>規模突破USD 100億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98064" y="1042416"/>
            <a:ext cx="2450592" cy="201168"/>
          </a:xfrm>
          <a:prstGeom prst="rect">
            <a:avLst/>
          </a:prstGeom>
          <a:solidFill>
            <a:srgbClr val="E8EDF8"/>
          </a:solidFill>
          <a:ln w="6350">
            <a:solidFill>
              <a:srgbClr val="156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104241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A0"/>
                </a:solidFill>
              </a:rPr>
              <a:t>9.0%/年配息率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PIMCO旗艦多元資產策略，整合「量化核心股票策略（60%）」與「靈活收益債券策略（40%）」，由三位晨星年度經理人得主聯手操盤，每兩週重新優化投組。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74320" y="181051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A0"/>
                </a:solidFill>
              </a:rPr>
              <a:t>▌ 核心投資策略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45720" cy="713232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03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</a:rPr>
              <a:t>① 量化核心股票策略：系統性選股全球2,600檔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3774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以MSCI ACWI為投資宇宙，同時運用品質、動能、價值、成長四大因子評分，精選300-500檔，目標相對指標超額2%年化報酬，追蹤誤差控制在3%以內。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962656"/>
            <a:ext cx="45720" cy="713232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626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</a:rPr>
              <a:t>② 靈活收益債券策略：USD 4,200億旗艦固收策略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23697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廣泛涵蓋MBS（17%）、投資等級債（32%）、新興市場債（9%）、非投等債、資產抵押貸款等全債種。平均信評AA-，存續期5.0年，預估殖利率5.6%。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822192"/>
            <a:ext cx="45720" cy="713232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22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</a:rPr>
              <a:t>③ 主動式戰術性調整：動態管理四大風險因子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09651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依總經變化靈活調整股票/存續期/信用/匯率四大曝險，±3%股票及±1年存續期間靈活性，在上漲市場提高曝險，下跌市場迅速降低風險。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47365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888888"/>
                </a:solidFill>
              </a:rPr>
              <a:t>主要基金經理人：Dan Ivascyn（集團CIO，34年）｜ Alfred Murata（26年）｜ Josh Anderson（30年）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5376672" y="713232"/>
            <a:ext cx="3602736" cy="2505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0" y="7863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績效表現（截至2026/02（M Income類股，費用後，美元））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60704"/>
          <a:ext cx="3401568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期間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本基金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基準指標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超額報酬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3個月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8.00%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4.27%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5A0"/>
                          </a:solidFill>
                        </a:rPr>
                        <a:t>+419bp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6個月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14.03%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8.53%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5A0"/>
                          </a:solidFill>
                        </a:rPr>
                        <a:t>+550bp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1年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24.04%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16.80%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5A0"/>
                          </a:solidFill>
                        </a:rPr>
                        <a:t>+724bp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2年(累積)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39.74%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30.44%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5A0"/>
                          </a:solidFill>
                        </a:rPr>
                        <a:t>+930bp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</a:rPr>
                        <a:t>自成立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49.86%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39.23%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5A0"/>
                          </a:solidFill>
                        </a:rPr>
                        <a:t>+1063bp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486400" y="281635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888888"/>
                </a:solidFill>
              </a:rPr>
              <a:t>★ 基準指標：60% MSCI ACWI + 40% Bloomberg美國綜合債券指數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376672" y="3273552"/>
            <a:ext cx="3602736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486400" y="33284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資產配置（2026/02）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0" y="3621024"/>
            <a:ext cx="634594" cy="274320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0" y="3931920"/>
            <a:ext cx="634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5A0"/>
                </a:solidFill>
              </a:rPr>
              <a:t>60%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486400" y="4187952"/>
            <a:ext cx="634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量化核心股票</a:t>
            </a:r>
            <a:endParaRPr lang="en-US" sz="720" dirty="0"/>
          </a:p>
        </p:txBody>
      </p:sp>
      <p:sp>
        <p:nvSpPr>
          <p:cNvPr id="36" name="Shape 33"/>
          <p:cNvSpPr/>
          <p:nvPr/>
        </p:nvSpPr>
        <p:spPr>
          <a:xfrm>
            <a:off x="6166714" y="3621024"/>
            <a:ext cx="634594" cy="274320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66714" y="3931920"/>
            <a:ext cx="634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5A0"/>
                </a:solidFill>
              </a:rPr>
              <a:t>17%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166714" y="4187952"/>
            <a:ext cx="634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機構MBS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6847027" y="3621024"/>
            <a:ext cx="634594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47027" y="3931920"/>
            <a:ext cx="634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10%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847027" y="4187952"/>
            <a:ext cx="634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投資等級信用</a:t>
            </a:r>
            <a:endParaRPr lang="en-US" sz="720" dirty="0"/>
          </a:p>
        </p:txBody>
      </p:sp>
      <p:sp>
        <p:nvSpPr>
          <p:cNvPr id="42" name="Shape 39"/>
          <p:cNvSpPr/>
          <p:nvPr/>
        </p:nvSpPr>
        <p:spPr>
          <a:xfrm>
            <a:off x="7527341" y="3621024"/>
            <a:ext cx="634594" cy="27432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527341" y="3931920"/>
            <a:ext cx="634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A030"/>
                </a:solidFill>
              </a:rPr>
              <a:t>9%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527341" y="4187952"/>
            <a:ext cx="634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新興市場債</a:t>
            </a:r>
            <a:endParaRPr lang="en-US" sz="720" dirty="0"/>
          </a:p>
        </p:txBody>
      </p:sp>
      <p:sp>
        <p:nvSpPr>
          <p:cNvPr id="45" name="Shape 42"/>
          <p:cNvSpPr/>
          <p:nvPr/>
        </p:nvSpPr>
        <p:spPr>
          <a:xfrm>
            <a:off x="8207654" y="3621024"/>
            <a:ext cx="634594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07654" y="3931920"/>
            <a:ext cx="634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88888"/>
                </a:solidFill>
              </a:rPr>
              <a:t>4%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8207654" y="4187952"/>
            <a:ext cx="634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非投等信用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基金二　｜　路博邁次世代通訊基金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64592" y="713232"/>
            <a:ext cx="5074920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86384"/>
            <a:ext cx="1572768" cy="21945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863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全球科技股 成長型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38528" y="786384"/>
            <a:ext cx="1572768" cy="21945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8528" y="7863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RR5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02736" y="786384"/>
            <a:ext cx="1572768" cy="21945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2736" y="7863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美元 累積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042416"/>
            <a:ext cx="2450592" cy="201168"/>
          </a:xfrm>
          <a:prstGeom prst="rect">
            <a:avLst/>
          </a:prstGeom>
          <a:solidFill>
            <a:srgbClr val="E8EDF8"/>
          </a:solidFill>
          <a:ln w="635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4241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A1B9A"/>
                </a:solidFill>
              </a:rPr>
              <a:t>3年四分位排名：第1四分位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98064" y="1042416"/>
            <a:ext cx="2450592" cy="201168"/>
          </a:xfrm>
          <a:prstGeom prst="rect">
            <a:avLst/>
          </a:prstGeom>
          <a:solidFill>
            <a:srgbClr val="E8EDF8"/>
          </a:solidFill>
          <a:ln w="635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104241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A1B9A"/>
                </a:solidFill>
              </a:rPr>
              <a:t>1年報酬+49%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聚焦次世代通訊核心賽道：AI基礎建設、半導體、雲端軟體、邊緣AI應用。科技巨頭AI資本支出2024-2029年預計達2.1兆美元，次世代通訊基金直接受惠。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74320" y="181051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1B9A"/>
                </a:solidFill>
              </a:rPr>
              <a:t>▌ 核心投資策略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45720" cy="7132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03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</a:rPr>
              <a:t>① AI基礎建設：資料中心升級週期全面受惠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3774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佈局數據中心網路、CPO共同光學封裝、高速銅纜/光纖、電力散熱管理。科技巨頭2024至2029年AI資本支出承諾累計達2.1兆美元，AI晶片及伺服器硬體需求呈指數增長。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962656"/>
            <a:ext cx="45720" cy="7132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626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</a:rPr>
              <a:t>② 半導體超級循環：HBM記憶體供不應求至2027年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23697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AI驅動DRAM/NAND記憶體進入超級循環，HBM高頻寬記憶體短缺恐延至2028年。聚焦AI ASIC客製化晶片、先進封裝、矽光子產業鏈受惠者，如台積電、SK Hynix、Broadcom。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822192"/>
            <a:ext cx="45720" cy="7132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22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</a:rPr>
              <a:t>③ 邊緣AI應用：AI Agent驅動全球網路流量7倍增長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09651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AI Token使用量呈指數級爆發，推動全球WAN流量2024至2034年增長7倍。投資龍蝦型AI代理應用、雲端軟體、智慧眼鏡等新型裝置平台，掌握AI普及下一波成長。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47365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888888"/>
                </a:solidFill>
              </a:rPr>
              <a:t>主要基金經理人：Neuberger Berman 路博邁投信 ｜ 多位基金專家管理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5376672" y="713232"/>
            <a:ext cx="3602736" cy="2505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0" y="7863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績效表現（截至2026/03（A累積類股，美元））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60704"/>
          <a:ext cx="3401568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期間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本基金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同類型平均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3個月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-1.8%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-8.0%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6個月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-7.2%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1年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+49.0%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+27.5%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2年(累積)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+51.8%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+24.9%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3年(累積)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+117.4%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+72.0%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</a:rPr>
                        <a:t>5年(累積)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+49.8%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+34.0%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486400" y="281635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888888"/>
                </a:solidFill>
              </a:rPr>
              <a:t>★ 3年同類型（晨星科技股型境外基金）四分位排名：連續第1四分位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376672" y="3273552"/>
            <a:ext cx="3602736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486400" y="33284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前十大持股（2026/03，合計39.4%）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0" y="3621024"/>
            <a:ext cx="634594" cy="2743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0" y="3931920"/>
            <a:ext cx="634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1B9A"/>
                </a:solidFill>
              </a:rPr>
              <a:t>6.2%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486400" y="4187952"/>
            <a:ext cx="634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NVIDIA</a:t>
            </a:r>
            <a:endParaRPr lang="en-US" sz="720" dirty="0"/>
          </a:p>
        </p:txBody>
      </p:sp>
      <p:sp>
        <p:nvSpPr>
          <p:cNvPr id="36" name="Shape 33"/>
          <p:cNvSpPr/>
          <p:nvPr/>
        </p:nvSpPr>
        <p:spPr>
          <a:xfrm>
            <a:off x="6166714" y="3621024"/>
            <a:ext cx="634594" cy="274320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66714" y="3931920"/>
            <a:ext cx="634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5A0"/>
                </a:solidFill>
              </a:rPr>
              <a:t>5.4%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166714" y="4187952"/>
            <a:ext cx="634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台積電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6847027" y="3621024"/>
            <a:ext cx="634594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47027" y="3931920"/>
            <a:ext cx="634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5.1%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847027" y="4187952"/>
            <a:ext cx="634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Amazon</a:t>
            </a:r>
            <a:endParaRPr lang="en-US" sz="720" dirty="0"/>
          </a:p>
        </p:txBody>
      </p:sp>
      <p:sp>
        <p:nvSpPr>
          <p:cNvPr id="42" name="Shape 39"/>
          <p:cNvSpPr/>
          <p:nvPr/>
        </p:nvSpPr>
        <p:spPr>
          <a:xfrm>
            <a:off x="7527341" y="3621024"/>
            <a:ext cx="634594" cy="27432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527341" y="3931920"/>
            <a:ext cx="634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A030"/>
                </a:solidFill>
              </a:rPr>
              <a:t>4.7%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527341" y="4187952"/>
            <a:ext cx="634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Meta</a:t>
            </a:r>
            <a:endParaRPr lang="en-US" sz="720" dirty="0"/>
          </a:p>
        </p:txBody>
      </p:sp>
      <p:sp>
        <p:nvSpPr>
          <p:cNvPr id="45" name="Shape 42"/>
          <p:cNvSpPr/>
          <p:nvPr/>
        </p:nvSpPr>
        <p:spPr>
          <a:xfrm>
            <a:off x="8207654" y="3621024"/>
            <a:ext cx="634594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07654" y="3931920"/>
            <a:ext cx="634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88888"/>
                </a:solidFill>
              </a:rPr>
              <a:t>3.6%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8207654" y="4187952"/>
            <a:ext cx="634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Broadcom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基金三　｜　國泰國泰基金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64592" y="713232"/>
            <a:ext cx="5074920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86384"/>
            <a:ext cx="1572768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863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台灣股票 平衡型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38528" y="786384"/>
            <a:ext cx="1572768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8528" y="7863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RR4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02736" y="786384"/>
            <a:ext cx="1572768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2736" y="7863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新台幣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042416"/>
            <a:ext cx="2450592" cy="201168"/>
          </a:xfrm>
          <a:prstGeom prst="rect">
            <a:avLst/>
          </a:prstGeom>
          <a:solidFill>
            <a:srgbClr val="E8EDF8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4241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</a:rPr>
              <a:t>國泰投信 在台超過30年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98064" y="1042416"/>
            <a:ext cx="2450592" cy="201168"/>
          </a:xfrm>
          <a:prstGeom prst="rect">
            <a:avLst/>
          </a:prstGeom>
          <a:solidFill>
            <a:srgbClr val="E8EDF8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104241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</a:rPr>
              <a:t>與台灣護國神山共成長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深耕台灣資本市場，以台積電等半導體供應鏈為核心，深度掌握AI晶片超級循環帶動的台灣資本市場多頭格局，同時廣泛佈局中小型隱形冠軍與內需成長股。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74320" y="181051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▌ 核心投資策略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4572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03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</a:rPr>
              <a:t>① 護國神山核心：半導體供應鏈深度佈局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3774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台積電、聯發科、日月光等台灣半導體龍頭企業為最核心配置。受惠AI需求爆發，台積電先進製程（3nm/2nm）訂單滿載，台灣半導體供應鏈進入史上最長多頭循環。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962656"/>
            <a:ext cx="4572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626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</a:rPr>
              <a:t>② 本土研究優勢：中小型隱形冠軍精準挖掘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23697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依托國泰投信在台30年深耕優勢，訪廠頻率與產業資訊掌握度遠超外資，精選法人低持有的電子零組件、生技及內需成長股，追求超過大盤的超額Alpha報酬。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822192"/>
            <a:ext cx="4572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22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</a:rPr>
              <a:t>③ 靈活操作：機動因應台股高波動特性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09651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對台股產業輪動與市場消息具備即時反應能力，能在AI、電動車、生技等主題輪動時快速調整部位，充分把握市場短線機會，同時控制整體組合的最大回撤風險。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47365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888888"/>
                </a:solidFill>
              </a:rPr>
              <a:t>主要基金經理人：國泰投信 ｜ 台股本土深度研究優勢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5376672" y="713232"/>
            <a:ext cx="3602736" cy="2505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0" y="7863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績效表現（截至2026/05（近3年回測，按淨值計算））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60704"/>
          <a:ext cx="3401568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年度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本基金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加權指數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2023年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+9.74%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+26.8%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2024年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+35.05%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+28.5%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2025年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+33.31%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+18.2%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3年累積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+103.2%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+92.7%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</a:rPr>
                        <a:t>年化報酬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34.18%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24.6%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486400" y="281635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888888"/>
                </a:solidFill>
              </a:rPr>
              <a:t>★ 年化波動率32.72%，最大回撤-39.16%，適合承受較高波動的積極型投資人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376672" y="3273552"/>
            <a:ext cx="3602736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486400" y="33284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主要配置方向（示意）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0" y="3621024"/>
            <a:ext cx="634594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0" y="3931920"/>
            <a:ext cx="634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50%+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486400" y="4187952"/>
            <a:ext cx="634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半導體/IC設計</a:t>
            </a:r>
            <a:endParaRPr lang="en-US" sz="720" dirty="0"/>
          </a:p>
        </p:txBody>
      </p:sp>
      <p:sp>
        <p:nvSpPr>
          <p:cNvPr id="36" name="Shape 33"/>
          <p:cNvSpPr/>
          <p:nvPr/>
        </p:nvSpPr>
        <p:spPr>
          <a:xfrm>
            <a:off x="6166714" y="3621024"/>
            <a:ext cx="634594" cy="274320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66714" y="3931920"/>
            <a:ext cx="634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5A0"/>
                </a:solidFill>
              </a:rPr>
              <a:t>~18%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166714" y="4187952"/>
            <a:ext cx="634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電子零組件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6847027" y="3621024"/>
            <a:ext cx="634594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47027" y="3931920"/>
            <a:ext cx="634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~14%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847027" y="4187952"/>
            <a:ext cx="634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金融保險</a:t>
            </a:r>
            <a:endParaRPr lang="en-US" sz="720" dirty="0"/>
          </a:p>
        </p:txBody>
      </p:sp>
      <p:sp>
        <p:nvSpPr>
          <p:cNvPr id="42" name="Shape 39"/>
          <p:cNvSpPr/>
          <p:nvPr/>
        </p:nvSpPr>
        <p:spPr>
          <a:xfrm>
            <a:off x="7527341" y="3621024"/>
            <a:ext cx="634594" cy="27432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527341" y="3931920"/>
            <a:ext cx="634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A030"/>
                </a:solidFill>
              </a:rPr>
              <a:t>~10%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527341" y="4187952"/>
            <a:ext cx="634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傳產/內需</a:t>
            </a:r>
            <a:endParaRPr lang="en-US" sz="720" dirty="0"/>
          </a:p>
        </p:txBody>
      </p:sp>
      <p:sp>
        <p:nvSpPr>
          <p:cNvPr id="45" name="Shape 42"/>
          <p:cNvSpPr/>
          <p:nvPr/>
        </p:nvSpPr>
        <p:spPr>
          <a:xfrm>
            <a:off x="8207654" y="3621024"/>
            <a:ext cx="634594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07654" y="3931920"/>
            <a:ext cx="634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88888"/>
                </a:solidFill>
              </a:rPr>
              <a:t>~8%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8207654" y="4187952"/>
            <a:ext cx="634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現金及其他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基金四　｜　安聯智慧城市收益基金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64592" y="713232"/>
            <a:ext cx="5074920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86384"/>
            <a:ext cx="1572768" cy="21945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863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多重資產 平衡型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38528" y="786384"/>
            <a:ext cx="1572768" cy="21945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8528" y="7863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RR4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02736" y="786384"/>
            <a:ext cx="1572768" cy="21945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2736" y="7863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美元 月配息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042416"/>
            <a:ext cx="2450592" cy="201168"/>
          </a:xfrm>
          <a:prstGeom prst="rect">
            <a:avLst/>
          </a:prstGeom>
          <a:solidFill>
            <a:srgbClr val="E8EDF8"/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4241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5100"/>
                </a:solidFill>
              </a:rPr>
              <a:t>AI科技+收益成長雙團隊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98064" y="1042416"/>
            <a:ext cx="2450592" cy="201168"/>
          </a:xfrm>
          <a:prstGeom prst="rect">
            <a:avLst/>
          </a:prstGeom>
          <a:solidFill>
            <a:srgbClr val="E8EDF8"/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104241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5100"/>
                </a:solidFill>
              </a:rPr>
              <a:t>成立以來+143%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投資於受益智慧城市發展的創新公司，透過「股票成長（50%）＋可轉債（35%）＋債券（15%）」三層跨資產結構，在追求收益的同時，大幅降低純股策略的波動風險。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74320" y="181051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</a:rPr>
              <a:t>▌ 核心投資策略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45720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03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</a:rPr>
              <a:t>① 八大智慧城市主題：掌握14兆美元商機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3774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佈局數據中心基礎設施、安全保障（資安/物聯網）、智慧醫療、潔淨能源、共享交通等八大主題。全球逾1,000項智慧城市計畫推動，市場至2034年上看14兆美元。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962656"/>
            <a:ext cx="45720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626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</a:rPr>
              <a:t>② 跨資本結構：三層資產兼顧「收益＋成長＋保護」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23697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股票（52.5%）提供資本增值；可轉債（32%）透過Covered Call策略額外創造權利金收入、降低波動；投資等級及高收益債券（11%）提供穩定配息基礎，月月入帳。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822192"/>
            <a:ext cx="45720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22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</a:rPr>
              <a:t>③ ESG整合篩選＋兩大頂尖團隊強強聯手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09651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Voya IM收益成長團隊（30年可轉債/多元資產研究）＋安聯AI科技團隊（矽谷第一手資訊），IESG環境社會治理風險評估整合，選股逾500間，精選70-140檔持倉。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47365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888888"/>
                </a:solidFill>
              </a:rPr>
              <a:t>主要基金經理人：Allianz Global Investors × Voya IM ｜ James Chen（AI/科技）＋ Justin Kass（收益成長）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5376672" y="713232"/>
            <a:ext cx="3602736" cy="2505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0" y="7863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績效表現（截至2026/04（AT-USD累積類股））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60704"/>
          <a:ext cx="3401568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期間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本基金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同類均值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3個月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+10.38%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6個月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+14.97%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1年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+48.71%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2年(累積)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+54.19%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3年(累積)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+79.21%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</a:rPr>
                        <a:t>自成立(2019/06)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+143.12%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486400" y="281635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888888"/>
                </a:solidFill>
              </a:rPr>
              <a:t>★ 月配息率約0.62-0.70%（AMg穩定月收類股），2026/05月報酬+8.20%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376672" y="3273552"/>
            <a:ext cx="3602736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486400" y="33284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投資組合配置（2026/04）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0" y="3621024"/>
            <a:ext cx="804672" cy="274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0" y="393192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5100"/>
                </a:solidFill>
              </a:rPr>
              <a:t>52.5%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486400" y="4187952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股票（72檔）</a:t>
            </a:r>
            <a:endParaRPr lang="en-US" sz="720" dirty="0"/>
          </a:p>
        </p:txBody>
      </p:sp>
      <p:sp>
        <p:nvSpPr>
          <p:cNvPr id="36" name="Shape 33"/>
          <p:cNvSpPr/>
          <p:nvPr/>
        </p:nvSpPr>
        <p:spPr>
          <a:xfrm>
            <a:off x="6336792" y="3621024"/>
            <a:ext cx="804672" cy="274320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36792" y="393192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5A0"/>
                </a:solidFill>
              </a:rPr>
              <a:t>32.0%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336792" y="4187952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可轉債（36檔）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7187184" y="3621024"/>
            <a:ext cx="804672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87184" y="393192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11.1%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187184" y="4187952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企業債券（19檔）</a:t>
            </a:r>
            <a:endParaRPr lang="en-US" sz="720" dirty="0"/>
          </a:p>
        </p:txBody>
      </p:sp>
      <p:sp>
        <p:nvSpPr>
          <p:cNvPr id="42" name="Shape 39"/>
          <p:cNvSpPr/>
          <p:nvPr/>
        </p:nvSpPr>
        <p:spPr>
          <a:xfrm>
            <a:off x="8037576" y="3621024"/>
            <a:ext cx="804672" cy="27432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37576" y="393192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A030"/>
                </a:solidFill>
              </a:rPr>
              <a:t>4.4%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037576" y="4187952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44444"/>
                </a:solidFill>
              </a:rPr>
              <a:t>現金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回測分析｜最大夏普比率策略　2023/05 ~ 2026/05（近3年）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64592" y="713232"/>
            <a:ext cx="2157984" cy="113385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7724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32.04%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56032" y="137160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年化報酬率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158191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8A030"/>
                </a:solidFill>
              </a:rPr>
              <a:t>同期MSCI ACWI +43.5%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95728" y="713232"/>
            <a:ext cx="2157984" cy="113385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7168" y="77724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15.00%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87168" y="137160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年化波動率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87168" y="158191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8A030"/>
                </a:solidFill>
              </a:rPr>
              <a:t>低於純股型基金均值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26864" y="713232"/>
            <a:ext cx="2157984" cy="113385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77724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030"/>
                </a:solidFill>
              </a:rPr>
              <a:t>1.87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18304" y="137160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夏普比率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18304" y="158191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8A030"/>
                </a:solidFill>
              </a:rPr>
              <a:t>每單位風險賺1.87單位超額報酬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58000" y="713232"/>
            <a:ext cx="2157984" cy="113385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77724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-14.22%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49440" y="137160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最大回撤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49440" y="158191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8A030"/>
                </a:solidFill>
              </a:rPr>
              <a:t>相對三成年化報酬極為溫和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64592" y="1956816"/>
            <a:ext cx="5029200" cy="3054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20299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▌ 最適配置比例（最大夏普比率策略）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22576"/>
          <a:ext cx="4754880" cy="914400"/>
        </p:xfrm>
        <a:graphic>
          <a:graphicData uri="http://schemas.openxmlformats.org/drawingml/2006/table">
            <a:tbl>
              <a:tblPr/>
              <a:tblGrid>
                <a:gridCol w="1572768"/>
                <a:gridCol w="548640"/>
                <a:gridCol w="658368"/>
                <a:gridCol w="658368"/>
                <a:gridCol w="548640"/>
                <a:gridCol w="768096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基金名稱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年化報酬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波動率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夏普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最大回撤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PIMCO收益增長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A0"/>
                          </a:solidFill>
                        </a:rPr>
                        <a:t>32.0%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5E20"/>
                          </a:solidFill>
                        </a:rPr>
                        <a:t>19.28%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8.73%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1.75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</a:rPr>
                        <a:t>-9.68%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路博邁次世代通訊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A1B9A"/>
                          </a:solidFill>
                        </a:rPr>
                        <a:t>32.0%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5E20"/>
                          </a:solidFill>
                        </a:rPr>
                        <a:t>46.25%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25.82%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1.64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</a:rPr>
                        <a:t>-18.44%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國泰國泰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19.8%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5E20"/>
                          </a:solidFill>
                        </a:rPr>
                        <a:t>34.18%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32.72%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0.92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</a:rPr>
                        <a:t>-39.16%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安聯智慧城市收益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16.1%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5E20"/>
                          </a:solidFill>
                        </a:rPr>
                        <a:t>20.96%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14.89%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1.14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</a:rPr>
                        <a:t>-16.06%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投資組合合計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8A030"/>
                          </a:solidFill>
                        </a:rPr>
                        <a:t>32.04%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8A030"/>
                          </a:solidFill>
                        </a:rPr>
                        <a:t>15.00%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8A030"/>
                          </a:solidFill>
                        </a:rPr>
                        <a:t>1.87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8A030"/>
                          </a:solidFill>
                        </a:rPr>
                        <a:t>-14.22%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274320" y="369417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▌ 歷史年度報酬回顧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50208"/>
          <a:ext cx="4754880" cy="914400"/>
        </p:xfrm>
        <a:graphic>
          <a:graphicData uri="http://schemas.openxmlformats.org/drawingml/2006/table">
            <a:tbl>
              <a:tblPr/>
              <a:tblGrid>
                <a:gridCol w="530352"/>
                <a:gridCol w="731520"/>
                <a:gridCol w="786384"/>
                <a:gridCol w="786384"/>
                <a:gridCol w="786384"/>
                <a:gridCol w="768096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年度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投組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PIMCO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路博邁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國泰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安聯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</a:rPr>
                        <a:t>2023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9.97%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 5.01%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16.87%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 9.74%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4.42%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</a:rPr>
                        <a:t>2024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24.64%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12.31%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32.68%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35.05%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15.83%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</a:rPr>
                        <a:t>2025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</a:rPr>
                        <a:t>39.43%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26.26%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59.82%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33.31%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26.10%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5358384" y="1956816"/>
            <a:ext cx="3621024" cy="3054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5468112" y="202996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▌ 相關係數矩陣</a:t>
            </a:r>
            <a:endParaRPr lang="en-US" sz="10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8112" y="2304288"/>
          <a:ext cx="3438144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612648"/>
                <a:gridCol w="612648"/>
                <a:gridCol w="612648"/>
                <a:gridCol w="612648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PIMCO</a:t>
                      </a:r>
                      <a:endParaRPr lang="en-US" sz="78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路博邁通訊</a:t>
                      </a:r>
                      <a:endParaRPr lang="en-US" sz="78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國泰國泰</a:t>
                      </a:r>
                      <a:endParaRPr lang="en-US" sz="78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安聯城市</a:t>
                      </a:r>
                      <a:endParaRPr lang="en-US" sz="78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PIMCO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0.82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0.13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0.42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路博邁通訊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0.82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0.20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0.42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國泰國泰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0.13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0.20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0.47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安聯城市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0.42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0.42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0.47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28" name="Text 23"/>
          <p:cNvSpPr/>
          <p:nvPr/>
        </p:nvSpPr>
        <p:spPr>
          <a:xfrm>
            <a:off x="5468112" y="3611880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紅底=高相關(≥0.7)　綠底=低相關(&lt;0.3)　低相關有助組合分散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5468112" y="385876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▌ 持有期間正報酬機率（歷史統計）</a:t>
            </a:r>
            <a:endParaRPr lang="en-US" sz="10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8112" y="4114800"/>
          <a:ext cx="3438144" cy="914400"/>
        </p:xfrm>
        <a:graphic>
          <a:graphicData uri="http://schemas.openxmlformats.org/drawingml/2006/table">
            <a:tbl>
              <a:tblPr/>
              <a:tblGrid>
                <a:gridCol w="621792"/>
                <a:gridCol w="566928"/>
                <a:gridCol w="566928"/>
                <a:gridCol w="566928"/>
                <a:gridCol w="566928"/>
                <a:gridCol w="54864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持有期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投組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PIMCO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路博邁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國泰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安聯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1個月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5E20"/>
                          </a:solidFill>
                        </a:rPr>
                        <a:t>74.8%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74.7%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72.5%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66.7%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72.9%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3個月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5E20"/>
                          </a:solidFill>
                        </a:rPr>
                        <a:t>86.6%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87.4%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85.4%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75.4%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84.1%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6個月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5E20"/>
                          </a:solidFill>
                        </a:rPr>
                        <a:t>99.1%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100%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100%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79.2%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97.6%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1年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5E20"/>
                          </a:solidFill>
                        </a:rPr>
                        <a:t>100%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100%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100%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87.6%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100%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2年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5E20"/>
                          </a:solidFill>
                        </a:rPr>
                        <a:t>100%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100%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100%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100%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</a:rPr>
                        <a:t>100%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2377440"/>
            <a:ext cx="3657600" cy="3657600"/>
          </a:xfrm>
          <a:prstGeom prst="ellipse">
            <a:avLst/>
          </a:prstGeom>
          <a:solidFill>
            <a:srgbClr val="2D3D6B">
              <a:alpha val="32000"/>
            </a:srgbClr>
          </a:solidFill>
          <a:ln w="12700">
            <a:solidFill>
              <a:srgbClr val="2D3D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28016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030"/>
                </a:solidFill>
              </a:rPr>
              <a:t>投資組合重點總結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8778240" cy="0"/>
          </a:xfrm>
          <a:prstGeom prst="line">
            <a:avLst/>
          </a:prstGeom>
          <a:noFill/>
          <a:ln w="19050">
            <a:solidFill>
              <a:srgbClr val="C8A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32688"/>
            <a:ext cx="2084832" cy="950976"/>
          </a:xfrm>
          <a:prstGeom prst="rect">
            <a:avLst/>
          </a:prstGeom>
          <a:solidFill>
            <a:srgbClr val="2D3D6B"/>
          </a:solidFill>
          <a:ln w="6350">
            <a:solidFill>
              <a:srgbClr val="3A4A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32688"/>
            <a:ext cx="2084832" cy="146304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97280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投資本金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" y="128016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NT$10,000,000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9184" y="166420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8A030"/>
                </a:solidFill>
              </a:rPr>
              <a:t>100% 全部配置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432304" y="932688"/>
            <a:ext cx="2084832" cy="950976"/>
          </a:xfrm>
          <a:prstGeom prst="rect">
            <a:avLst/>
          </a:prstGeom>
          <a:solidFill>
            <a:srgbClr val="2D3D6B"/>
          </a:solidFill>
          <a:ln w="6350">
            <a:solidFill>
              <a:srgbClr val="3A4A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2304" y="932688"/>
            <a:ext cx="2084832" cy="146304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1097280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年化配息率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05456" y="128016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4.25%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05456" y="166420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8A030"/>
                </a:solidFill>
              </a:rPr>
              <a:t>PIMCO 9% + 安聯 8.5%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08576" y="932688"/>
            <a:ext cx="2084832" cy="950976"/>
          </a:xfrm>
          <a:prstGeom prst="rect">
            <a:avLst/>
          </a:prstGeom>
          <a:solidFill>
            <a:srgbClr val="2D3D6B"/>
          </a:solidFill>
          <a:ln w="6350">
            <a:solidFill>
              <a:srgbClr val="3A4A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932688"/>
            <a:ext cx="2084832" cy="146304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097280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年領總息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81728" y="128016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NT$425,246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81728" y="166420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8A030"/>
                </a:solidFill>
              </a:rPr>
              <a:t>12個月合計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784848" y="932688"/>
            <a:ext cx="2084832" cy="950976"/>
          </a:xfrm>
          <a:prstGeom prst="rect">
            <a:avLst/>
          </a:prstGeom>
          <a:solidFill>
            <a:srgbClr val="2D3D6B"/>
          </a:solidFill>
          <a:ln w="6350">
            <a:solidFill>
              <a:srgbClr val="3A4A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932688"/>
            <a:ext cx="2084832" cy="146304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097280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月均領息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58000" y="128016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NT$35,437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58000" y="166420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8A030"/>
                </a:solidFill>
              </a:rPr>
              <a:t>每月穩定入帳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56032" y="2029968"/>
            <a:ext cx="402336" cy="402336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19933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🎯 多元互補　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</a:rPr>
              <a:t>PIMCO低波動收息 + 路博邁高成長科技 + 國泰台股核心 + 安聯跨資產平衡，四者相關係數0.13～0.47，分散效果卓越。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56032" y="2633472"/>
            <a:ext cx="402336" cy="402336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25968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🏆 風報比最優　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</a:rPr>
              <a:t>夏普比率1.87，年化報酬32%同時最大回撤僅-14.22%，三年累積報酬+141%，遠超同類型均值。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56032" y="3236976"/>
            <a:ext cx="402336" cy="402336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3200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💰 穩定現金流　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</a:rPr>
              <a:t>PIMCO月配息9% + 安聯月配息8.5%，每月穩定領息NT$35,437，年領超過42萬，兼顧成長與配息。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56032" y="3840480"/>
            <a:ext cx="402336" cy="402336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1520" y="380390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📊 科學最優配置　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</a:rPr>
              <a:t>PIMCO 32% ｜ 路博邁 32% ｜ 國泰 19.8% ｜ 安聯 16.1% — 由最大夏普比率演算法精確優化得出。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56032" y="4443984"/>
            <a:ext cx="402336" cy="402336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1520" y="440740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030"/>
                </a:solidFill>
              </a:rPr>
              <a:t>✅ 持有一年正報酬100%　</a:t>
            </a:r>
            <a:pPr indent="0" marL="0">
              <a:buNone/>
            </a:pPr>
            <a:r>
              <a:rPr lang="en-US" sz="1050" dirty="0">
                <a:solidFill>
                  <a:srgbClr val="FFE066"/>
                </a:solidFill>
              </a:rPr>
              <a:t>回測顯示持有滿1年正報酬機率達100%，持有6個月達99.1%，建議中長期（1年以上）配置。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D1A33"/>
          </a:solidFill>
          <a:ln w="12700">
            <a:solidFill>
              <a:srgbClr val="0D1A3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7594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8AA"/>
                </a:solidFill>
              </a:rPr>
              <a:t>⚠️  本報告所有數據均基於歷史資料計算，不代表未來績效。配息金額以各機構實際公告為準。僅供內部教育訓練使用，請勿外流。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四大基金推薦 × 最適投資組合</dc:title>
  <dc:subject>PptxGenJS Presentation</dc:subject>
  <dc:creator>PptxGenJS</dc:creator>
  <cp:lastModifiedBy>PptxGenJS</cp:lastModifiedBy>
  <cp:revision>1</cp:revision>
  <dcterms:created xsi:type="dcterms:W3CDTF">2026-06-11T15:45:35Z</dcterms:created>
  <dcterms:modified xsi:type="dcterms:W3CDTF">2026-06-11T15:45:35Z</dcterms:modified>
</cp:coreProperties>
</file>