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914400"/>
            <a:ext cx="4389120" cy="4389120"/>
          </a:xfrm>
          <a:prstGeom prst="ellipse">
            <a:avLst/>
          </a:prstGeom>
          <a:solidFill>
            <a:srgbClr val="2D3D6B">
              <a:alpha val="45000"/>
            </a:srgbClr>
          </a:solidFill>
          <a:ln w="12700">
            <a:solidFill>
              <a:srgbClr val="2D3D6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2286000"/>
            <a:ext cx="2926080" cy="2926080"/>
          </a:xfrm>
          <a:prstGeom prst="ellipse">
            <a:avLst/>
          </a:prstGeom>
          <a:solidFill>
            <a:srgbClr val="2D3D6B">
              <a:alpha val="35000"/>
            </a:srgbClr>
          </a:solidFill>
          <a:ln w="12700">
            <a:solidFill>
              <a:srgbClr val="2D3D6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8A030"/>
          </a:solidFill>
          <a:ln w="12700">
            <a:solidFill>
              <a:srgbClr val="C8A03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56032" y="457200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8A030"/>
                </a:solidFill>
              </a:rPr>
              <a:t>本月精選基金推薦 × 最適投資組合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56032" y="786384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四大基金深度介紹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256032" y="1755648"/>
            <a:ext cx="6858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030"/>
                </a:solidFill>
              </a:rPr>
              <a:t>最大夏普比率策略 × 最適投資組合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74320" y="2432304"/>
            <a:ext cx="8778240" cy="0"/>
          </a:xfrm>
          <a:prstGeom prst="line">
            <a:avLst/>
          </a:prstGeom>
          <a:noFill/>
          <a:ln w="19050">
            <a:solidFill>
              <a:srgbClr val="C8A03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" y="257860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BBCC"/>
                </a:solidFill>
              </a:rPr>
              <a:t>推薦標的：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PIMCO收益增長 ／ 國泰國泰 ／ 路博邁次世代通訊 ／ 安聯智慧城市收益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6032" y="296265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BBCC"/>
                </a:solidFill>
              </a:rPr>
              <a:t>優化策略：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最大夏普比率（Max Sharpe Ratio）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56032" y="3346704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BBCC"/>
                </a:solidFill>
              </a:rPr>
              <a:t>回測期間：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2022/06 ~ 2025/05（近3年）｜ 年化報酬 16.8%　夏普比率 1.24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56032" y="4668012"/>
            <a:ext cx="8778240" cy="0"/>
          </a:xfrm>
          <a:prstGeom prst="line">
            <a:avLst/>
          </a:prstGeom>
          <a:noFill/>
          <a:ln w="6350">
            <a:solidFill>
              <a:srgbClr val="3A4A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6032" y="4713732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88AA"/>
                </a:solidFill>
              </a:rPr>
              <a:t>製作日期：2026/6/11　｜　本報告僅供市場分析與模擬參考，不構成任何投資建議或邀約。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565A0"/>
          </a:solidFill>
          <a:ln w="12700">
            <a:solidFill>
              <a:srgbClr val="1565A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732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基金一｜PIMCO收益增長基金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" y="768096"/>
            <a:ext cx="4251960" cy="42245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E8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92608" y="859536"/>
            <a:ext cx="1280160" cy="201168"/>
          </a:xfrm>
          <a:prstGeom prst="rect">
            <a:avLst/>
          </a:prstGeom>
          <a:solidFill>
            <a:srgbClr val="1565A0"/>
          </a:solidFill>
          <a:ln w="12700">
            <a:solidFill>
              <a:srgbClr val="1565A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2608" y="859536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類型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731520" y="859536"/>
            <a:ext cx="84124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1565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859536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4444"/>
                </a:solidFill>
              </a:rPr>
              <a:t>多元債券 ／ 收益型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1682496" y="859536"/>
            <a:ext cx="1280160" cy="201168"/>
          </a:xfrm>
          <a:prstGeom prst="rect">
            <a:avLst/>
          </a:prstGeom>
          <a:solidFill>
            <a:srgbClr val="1565A0"/>
          </a:solidFill>
          <a:ln w="12700">
            <a:solidFill>
              <a:srgbClr val="1565A0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82496" y="859536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風險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121408" y="859536"/>
            <a:ext cx="84124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1565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21408" y="859536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4444"/>
                </a:solidFill>
              </a:rPr>
              <a:t>穩健型（RR3）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3072384" y="859536"/>
            <a:ext cx="1280160" cy="201168"/>
          </a:xfrm>
          <a:prstGeom prst="rect">
            <a:avLst/>
          </a:prstGeom>
          <a:solidFill>
            <a:srgbClr val="1565A0"/>
          </a:solidFill>
          <a:ln w="12700">
            <a:solidFill>
              <a:srgbClr val="1565A0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72384" y="859536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幣別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511296" y="859536"/>
            <a:ext cx="84124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1565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11296" y="859536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4444"/>
                </a:solidFill>
              </a:rPr>
              <a:t>美元 / 台幣避險月配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292608" y="1115568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基金規模：</a:t>
            </a:r>
            <a:pPr indent="0" marL="0">
              <a:buNone/>
            </a:pPr>
            <a:r>
              <a:rPr lang="en-US" sz="850" b="1" dirty="0">
                <a:solidFill>
                  <a:srgbClr val="444444"/>
                </a:solidFill>
              </a:rPr>
              <a:t>約 USD 1,680 億（全球旗艦收益策略）</a:t>
            </a:r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　｜　配息率：</a:t>
            </a:r>
            <a:pPr indent="0" marL="0">
              <a:buNone/>
            </a:pPr>
            <a:r>
              <a:rPr lang="en-US" sz="850" b="1" dirty="0">
                <a:solidFill>
                  <a:srgbClr val="1565A0"/>
                </a:solidFill>
              </a:rPr>
              <a:t>約 9.0% / 年（月配息）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292608" y="138988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65A0"/>
                </a:solidFill>
              </a:rPr>
              <a:t>核心投資策略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92608" y="1719072"/>
            <a:ext cx="50292" cy="731520"/>
          </a:xfrm>
          <a:prstGeom prst="rect">
            <a:avLst/>
          </a:prstGeom>
          <a:solidFill>
            <a:srgbClr val="1565A0"/>
          </a:solidFill>
          <a:ln w="12700">
            <a:solidFill>
              <a:srgbClr val="1565A0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048" y="17190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</a:rPr>
              <a:t>① 多元收益核心：跨資產全球債券佈局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84048" y="201168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444444"/>
                </a:solidFill>
              </a:rPr>
              <a:t>廣泛涵蓋投資等級債、高收益債、新興市場債、不動產抵押貸款證券（MBS）等，透過多元化降低單一資產風險。</a:t>
            </a:r>
            <a:endParaRPr lang="en-US" sz="880" dirty="0"/>
          </a:p>
        </p:txBody>
      </p:sp>
      <p:sp>
        <p:nvSpPr>
          <p:cNvPr id="22" name="Shape 20"/>
          <p:cNvSpPr/>
          <p:nvPr/>
        </p:nvSpPr>
        <p:spPr>
          <a:xfrm>
            <a:off x="292608" y="2761488"/>
            <a:ext cx="50292" cy="731520"/>
          </a:xfrm>
          <a:prstGeom prst="rect">
            <a:avLst/>
          </a:prstGeom>
          <a:solidFill>
            <a:srgbClr val="1565A0"/>
          </a:solidFill>
          <a:ln w="12700">
            <a:solidFill>
              <a:srgbClr val="1565A0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" y="276148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</a:rPr>
              <a:t>② 動態靈活調整：主動管理利率與信用曝險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84048" y="3054096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444444"/>
                </a:solidFill>
              </a:rPr>
              <a:t>PIMCO 團隊根據總經環境主動調整存續期、信用評等與地區配置，具備優異的多頭與空頭市場應對能力。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292608" y="3803904"/>
            <a:ext cx="50292" cy="731520"/>
          </a:xfrm>
          <a:prstGeom prst="rect">
            <a:avLst/>
          </a:prstGeom>
          <a:solidFill>
            <a:srgbClr val="1565A0"/>
          </a:solidFill>
          <a:ln w="12700">
            <a:solidFill>
              <a:srgbClr val="1565A0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38039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</a:rPr>
              <a:t>③ 月月配息、累積複利：兼顧現金流與長期成長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84048" y="4096512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444444"/>
                </a:solidFill>
              </a:rPr>
              <a:t>每月穩定配息提供現金流，累積型受益人同步享有複利增長效果，適合退休規劃或定期領息需求。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292608" y="477316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888888"/>
                </a:solidFill>
              </a:rPr>
              <a:t>※ 配息率僅供參考，實際月配息以各期公告為準。過往績效不代表未來表現。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4663440" y="768096"/>
            <a:ext cx="4224528" cy="230428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E8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7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791456" y="8412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</a:rPr>
              <a:t>績效表現（截至 2025/05）</a:t>
            </a:r>
            <a:endParaRPr lang="en-US" sz="11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91456" y="1152144"/>
          <a:ext cx="3968496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508760"/>
                <a:gridCol w="1408176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744"/>
                          </a:solidFill>
                        </a:rPr>
                        <a:t>期間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565A0"/>
                          </a:solidFill>
                        </a:rPr>
                        <a:t>本基金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888888"/>
                          </a:solidFill>
                        </a:rPr>
                        <a:t>同類均值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744"/>
                          </a:solidFill>
                        </a:rPr>
                        <a:t>近1年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5E20"/>
                          </a:solidFill>
                        </a:rPr>
                        <a:t>+12.4%</a:t>
                      </a:r>
                      <a:endParaRPr lang="en-US" sz="11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</a:rPr>
                        <a:t>+8.1%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744"/>
                          </a:solidFill>
                        </a:rPr>
                        <a:t>近3年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5E20"/>
                          </a:solidFill>
                        </a:rPr>
                        <a:t>+23.8%</a:t>
                      </a:r>
                      <a:endParaRPr lang="en-US" sz="11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</a:rPr>
                        <a:t>+15.3%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744"/>
                          </a:solidFill>
                        </a:rPr>
                        <a:t>近5年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5E20"/>
                          </a:solidFill>
                        </a:rPr>
                        <a:t>+42.1%</a:t>
                      </a:r>
                      <a:endParaRPr lang="en-US" sz="11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</a:rPr>
                        <a:t>+28.6%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744"/>
                          </a:solidFill>
                        </a:rPr>
                        <a:t>自成立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5E20"/>
                          </a:solidFill>
                        </a:rPr>
                        <a:t>+78.3%</a:t>
                      </a:r>
                      <a:endParaRPr lang="en-US" sz="11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</a:rPr>
                        <a:t>+52.4%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2" name="Text 29"/>
          <p:cNvSpPr/>
          <p:nvPr/>
        </p:nvSpPr>
        <p:spPr>
          <a:xfrm>
            <a:off x="4791456" y="2551176"/>
            <a:ext cx="3968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8888"/>
                </a:solidFill>
              </a:rPr>
              <a:t>★ 近3年同類型四分位排名：第1四分位（前25%）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663440" y="3200400"/>
            <a:ext cx="4224528" cy="179222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E8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7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4791456" y="32735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</a:rPr>
              <a:t>最新資產配置（2025/05）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791456" y="3621024"/>
            <a:ext cx="707746" cy="329184"/>
          </a:xfrm>
          <a:prstGeom prst="rect">
            <a:avLst/>
          </a:prstGeom>
          <a:solidFill>
            <a:srgbClr val="1565A0"/>
          </a:solidFill>
          <a:ln w="12700">
            <a:solidFill>
              <a:srgbClr val="1565A0">
                <a:alpha val="0"/>
              </a:srgbClr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791456" y="3995928"/>
            <a:ext cx="7077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5A0"/>
                </a:solidFill>
              </a:rPr>
              <a:t>38%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791456" y="4279392"/>
            <a:ext cx="70774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</a:rPr>
              <a:t>MBS/資產抵押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5563210" y="3621024"/>
            <a:ext cx="707746" cy="329184"/>
          </a:xfrm>
          <a:prstGeom prst="rect">
            <a:avLst/>
          </a:prstGeom>
          <a:solidFill>
            <a:srgbClr val="1565A0"/>
          </a:solidFill>
          <a:ln w="12700">
            <a:solidFill>
              <a:srgbClr val="1565A0">
                <a:alpha val="0"/>
              </a:srgbClr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563210" y="3995928"/>
            <a:ext cx="7077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5A0"/>
                </a:solidFill>
              </a:rPr>
              <a:t>25%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5563210" y="4279392"/>
            <a:ext cx="70774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</a:rPr>
              <a:t>投資等級債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6334963" y="3621024"/>
            <a:ext cx="707746" cy="32918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334963" y="3995928"/>
            <a:ext cx="7077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7D32"/>
                </a:solidFill>
              </a:rPr>
              <a:t>18%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6334963" y="4279392"/>
            <a:ext cx="70774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</a:rPr>
              <a:t>高收益債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7106717" y="3621024"/>
            <a:ext cx="707746" cy="329184"/>
          </a:xfrm>
          <a:prstGeom prst="rect">
            <a:avLst/>
          </a:prstGeom>
          <a:solidFill>
            <a:srgbClr val="C8A030"/>
          </a:solidFill>
          <a:ln w="12700">
            <a:solidFill>
              <a:srgbClr val="C8A030">
                <a:alpha val="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106717" y="3995928"/>
            <a:ext cx="7077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A030"/>
                </a:solidFill>
              </a:rPr>
              <a:t>12%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106717" y="4279392"/>
            <a:ext cx="70774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</a:rPr>
              <a:t>新興市場債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7878470" y="3621024"/>
            <a:ext cx="707746" cy="329184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>
                <a:alpha val="0"/>
              </a:srgbClr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878470" y="3995928"/>
            <a:ext cx="7077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88888"/>
                </a:solidFill>
              </a:rPr>
              <a:t>7%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7878470" y="4279392"/>
            <a:ext cx="70774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</a:rPr>
              <a:t>其他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732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基金二｜國泰國泰基金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" y="768096"/>
            <a:ext cx="4251960" cy="42245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E8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92608" y="859536"/>
            <a:ext cx="1280160" cy="20116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2608" y="859536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類型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731520" y="859536"/>
            <a:ext cx="84124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2E7D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859536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4444"/>
                </a:solidFill>
              </a:rPr>
              <a:t>台灣股票 ／ 平衡型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1682496" y="859536"/>
            <a:ext cx="1280160" cy="20116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82496" y="859536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風險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121408" y="859536"/>
            <a:ext cx="84124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21408" y="859536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4444"/>
                </a:solidFill>
              </a:rPr>
              <a:t>積極型（RR4）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3072384" y="859536"/>
            <a:ext cx="1280160" cy="20116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72384" y="859536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幣別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511296" y="859536"/>
            <a:ext cx="84124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2E7D3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11296" y="859536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4444"/>
                </a:solidFill>
              </a:rPr>
              <a:t>新台幣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292608" y="1115568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基金規模：</a:t>
            </a:r>
            <a:pPr indent="0" marL="0">
              <a:buNone/>
            </a:pPr>
            <a:r>
              <a:rPr lang="en-US" sz="850" b="1" dirty="0">
                <a:solidFill>
                  <a:srgbClr val="444444"/>
                </a:solidFill>
              </a:rPr>
              <a:t>約 NTD 140 億</a:t>
            </a:r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　｜　配息率：</a:t>
            </a:r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</a:rPr>
              <a:t>視市況年配或不配息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292608" y="138988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32"/>
                </a:solidFill>
              </a:rPr>
              <a:t>核心投資策略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92608" y="1719072"/>
            <a:ext cx="50292" cy="7315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048" y="17190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</a:rPr>
              <a:t>① 紮根台灣、掌握護國神山商機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84048" y="201168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444444"/>
                </a:solidFill>
              </a:rPr>
              <a:t>重押台積電等半導體供應鏈，深度受益於 AI 晶片超級循環帶動的台灣資本市場長期多頭格局。</a:t>
            </a:r>
            <a:endParaRPr lang="en-US" sz="880" dirty="0"/>
          </a:p>
        </p:txBody>
      </p:sp>
      <p:sp>
        <p:nvSpPr>
          <p:cNvPr id="22" name="Shape 20"/>
          <p:cNvSpPr/>
          <p:nvPr/>
        </p:nvSpPr>
        <p:spPr>
          <a:xfrm>
            <a:off x="292608" y="2761488"/>
            <a:ext cx="50292" cy="7315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" y="276148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</a:rPr>
              <a:t>② 精選中型成長股、挖掘隱形冠軍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84048" y="3054096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444444"/>
                </a:solidFill>
              </a:rPr>
              <a:t>除權值股外，積極布局台灣中小型電子、生技及內需股，追求超額報酬（Alpha）。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292608" y="3803904"/>
            <a:ext cx="50292" cy="7315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38039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</a:rPr>
              <a:t>③ 在地研究優勢、靈活擇時進出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84048" y="4096512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444444"/>
                </a:solidFill>
              </a:rPr>
              <a:t>本土投信對台股產業訊息掌握度高，操作機動靈活，能在市場波動中快速調整部位。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292608" y="477316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888888"/>
                </a:solidFill>
              </a:rPr>
              <a:t>※ 投資台股具有市場集中度風險，請留意個股波動。過往績效不代表未來表現。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4663440" y="768096"/>
            <a:ext cx="4224528" cy="230428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E8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7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791456" y="8412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</a:rPr>
              <a:t>績效表現（截至 2025/05）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91456" y="1152144"/>
          <a:ext cx="3968496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508760"/>
                <a:gridCol w="1408176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744"/>
                          </a:solidFill>
                        </a:rPr>
                        <a:t>期間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</a:rPr>
                        <a:t>本基金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888888"/>
                          </a:solidFill>
                        </a:rPr>
                        <a:t>台股大盤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744"/>
                          </a:solidFill>
                        </a:rPr>
                        <a:t>近1年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5E20"/>
                          </a:solidFill>
                        </a:rPr>
                        <a:t>+28.6%</a:t>
                      </a:r>
                      <a:endParaRPr lang="en-US" sz="11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</a:rPr>
                        <a:t>+22.3%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744"/>
                          </a:solidFill>
                        </a:rPr>
                        <a:t>近3年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5E20"/>
                          </a:solidFill>
                        </a:rPr>
                        <a:t>+61.4%</a:t>
                      </a:r>
                      <a:endParaRPr lang="en-US" sz="11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</a:rPr>
                        <a:t>+48.7%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744"/>
                          </a:solidFill>
                        </a:rPr>
                        <a:t>近5年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5E20"/>
                          </a:solidFill>
                        </a:rPr>
                        <a:t>+112.3%</a:t>
                      </a:r>
                      <a:endParaRPr lang="en-US" sz="11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</a:rPr>
                        <a:t>+89.2%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744"/>
                          </a:solidFill>
                        </a:rPr>
                        <a:t>自成立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5E20"/>
                          </a:solidFill>
                        </a:rPr>
                        <a:t>+386.5%</a:t>
                      </a:r>
                      <a:endParaRPr lang="en-US" sz="11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</a:rPr>
                        <a:t>+—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2" name="Text 29"/>
          <p:cNvSpPr/>
          <p:nvPr/>
        </p:nvSpPr>
        <p:spPr>
          <a:xfrm>
            <a:off x="4791456" y="2551176"/>
            <a:ext cx="3968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8888"/>
                </a:solidFill>
              </a:rPr>
              <a:t>★ 近5年台股股票型基金績效前20%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663440" y="3200400"/>
            <a:ext cx="4224528" cy="179222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E8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7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4791456" y="32735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</a:rPr>
              <a:t>最新資產配置（2025/05）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791456" y="3621024"/>
            <a:ext cx="707746" cy="32918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791456" y="3995928"/>
            <a:ext cx="7077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7D32"/>
                </a:solidFill>
              </a:rPr>
              <a:t>52%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791456" y="4279392"/>
            <a:ext cx="70774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</a:rPr>
              <a:t>半導體/IC設計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5563210" y="3621024"/>
            <a:ext cx="707746" cy="329184"/>
          </a:xfrm>
          <a:prstGeom prst="rect">
            <a:avLst/>
          </a:prstGeom>
          <a:solidFill>
            <a:srgbClr val="1565A0"/>
          </a:solidFill>
          <a:ln w="12700">
            <a:solidFill>
              <a:srgbClr val="1565A0">
                <a:alpha val="0"/>
              </a:srgbClr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563210" y="3995928"/>
            <a:ext cx="7077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5A0"/>
                </a:solidFill>
              </a:rPr>
              <a:t>18%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5563210" y="4279392"/>
            <a:ext cx="70774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</a:rPr>
              <a:t>電子零組件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6334963" y="3621024"/>
            <a:ext cx="707746" cy="32918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334963" y="3995928"/>
            <a:ext cx="7077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7D32"/>
                </a:solidFill>
              </a:rPr>
              <a:t>14%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6334963" y="4279392"/>
            <a:ext cx="70774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</a:rPr>
              <a:t>金融保險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7106717" y="3621024"/>
            <a:ext cx="707746" cy="329184"/>
          </a:xfrm>
          <a:prstGeom prst="rect">
            <a:avLst/>
          </a:prstGeom>
          <a:solidFill>
            <a:srgbClr val="C8A030"/>
          </a:solidFill>
          <a:ln w="12700">
            <a:solidFill>
              <a:srgbClr val="C8A030">
                <a:alpha val="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106717" y="3995928"/>
            <a:ext cx="7077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A030"/>
                </a:solidFill>
              </a:rPr>
              <a:t>10%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106717" y="4279392"/>
            <a:ext cx="70774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</a:rPr>
              <a:t>傳產/內需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7878470" y="3621024"/>
            <a:ext cx="707746" cy="329184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>
                <a:alpha val="0"/>
              </a:srgbClr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878470" y="3995928"/>
            <a:ext cx="7077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88888"/>
                </a:solidFill>
              </a:rPr>
              <a:t>6%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7878470" y="4279392"/>
            <a:ext cx="70774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</a:rPr>
              <a:t>現金及其他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732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基金三｜路博邁次世代通訊基金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" y="768096"/>
            <a:ext cx="4251960" cy="42245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E8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92608" y="859536"/>
            <a:ext cx="1280160" cy="201168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2608" y="859536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類型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731520" y="859536"/>
            <a:ext cx="84124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6A1B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859536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4444"/>
                </a:solidFill>
              </a:rPr>
              <a:t>全球科技股 ／ 成長型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1682496" y="859536"/>
            <a:ext cx="1280160" cy="201168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82496" y="859536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風險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121408" y="859536"/>
            <a:ext cx="84124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6A1B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21408" y="859536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4444"/>
                </a:solidFill>
              </a:rPr>
              <a:t>積極型（RR5）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3072384" y="859536"/>
            <a:ext cx="1280160" cy="201168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72384" y="859536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幣別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511296" y="859536"/>
            <a:ext cx="84124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6A1B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11296" y="859536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4444"/>
                </a:solidFill>
              </a:rPr>
              <a:t>美元 / 台幣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292608" y="1115568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基金規模：</a:t>
            </a:r>
            <a:pPr indent="0" marL="0">
              <a:buNone/>
            </a:pPr>
            <a:r>
              <a:rPr lang="en-US" sz="850" b="1" dirty="0">
                <a:solidFill>
                  <a:srgbClr val="444444"/>
                </a:solidFill>
              </a:rPr>
              <a:t>約 USD 22 億（次世代通訊策略）</a:t>
            </a:r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　｜　配息率：</a:t>
            </a:r>
            <a:pPr indent="0" marL="0">
              <a:buNone/>
            </a:pPr>
            <a:r>
              <a:rPr lang="en-US" sz="850" b="1" dirty="0">
                <a:solidFill>
                  <a:srgbClr val="6A1B9A"/>
                </a:solidFill>
              </a:rPr>
              <a:t>不配息（累積型為主）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292608" y="138988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A1B9A"/>
                </a:solidFill>
              </a:rPr>
              <a:t>核心投資策略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92608" y="1719072"/>
            <a:ext cx="50292" cy="73152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048" y="17190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</a:rPr>
              <a:t>① 聚焦 5G/6G、AI 運算與衛星通訊革命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84048" y="201168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444444"/>
                </a:solidFill>
              </a:rPr>
              <a:t>深耕次世代無線通訊基礎設施、晶片設計、軟體平台，全程受益於 10 年以上的科技升級大趨勢。</a:t>
            </a:r>
            <a:endParaRPr lang="en-US" sz="880" dirty="0"/>
          </a:p>
        </p:txBody>
      </p:sp>
      <p:sp>
        <p:nvSpPr>
          <p:cNvPr id="22" name="Shape 20"/>
          <p:cNvSpPr/>
          <p:nvPr/>
        </p:nvSpPr>
        <p:spPr>
          <a:xfrm>
            <a:off x="292608" y="2761488"/>
            <a:ext cx="50292" cy="73152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" y="276148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</a:rPr>
              <a:t>② 全球分散、精選生態鏈完整佈局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84048" y="3054096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444444"/>
                </a:solidFill>
              </a:rPr>
              <a:t>涵蓋美國、亞洲（台灣、南韓）、歐洲之通訊設備商、雲端服務商與半導體公司，降低單一地區風險。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292608" y="3803904"/>
            <a:ext cx="50292" cy="73152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38039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</a:rPr>
              <a:t>③ 主動選股搭配因子篩選、追求長期超額報酬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84048" y="4096512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444444"/>
                </a:solidFill>
              </a:rPr>
              <a:t>結合基本面研究與量化因子（品質、成長、動能），精選具備競爭護城河的領導廠商。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292608" y="477316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888888"/>
                </a:solidFill>
              </a:rPr>
              <a:t>※ 科技基金波動較高，建議搭配低相關性資產做組合分散。過往績效不代表未來表現。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4663440" y="768096"/>
            <a:ext cx="4224528" cy="230428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E8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7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791456" y="8412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</a:rPr>
              <a:t>績效表現（截至 2025/05）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91456" y="1152144"/>
          <a:ext cx="3968496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508760"/>
                <a:gridCol w="1408176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744"/>
                          </a:solidFill>
                        </a:rPr>
                        <a:t>期間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A1B9A"/>
                          </a:solidFill>
                        </a:rPr>
                        <a:t>本基金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888888"/>
                          </a:solidFill>
                        </a:rPr>
                        <a:t>MSCI科技指數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744"/>
                          </a:solidFill>
                        </a:rPr>
                        <a:t>近1年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5E20"/>
                          </a:solidFill>
                        </a:rPr>
                        <a:t>+34.2%</a:t>
                      </a:r>
                      <a:endParaRPr lang="en-US" sz="11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</a:rPr>
                        <a:t>+28.5%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744"/>
                          </a:solidFill>
                        </a:rPr>
                        <a:t>近3年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5E20"/>
                          </a:solidFill>
                        </a:rPr>
                        <a:t>+58.7%</a:t>
                      </a:r>
                      <a:endParaRPr lang="en-US" sz="11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</a:rPr>
                        <a:t>+45.6%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744"/>
                          </a:solidFill>
                        </a:rPr>
                        <a:t>近5年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5E20"/>
                          </a:solidFill>
                        </a:rPr>
                        <a:t>+138.4%</a:t>
                      </a:r>
                      <a:endParaRPr lang="en-US" sz="11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</a:rPr>
                        <a:t>+112.8%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744"/>
                          </a:solidFill>
                        </a:rPr>
                        <a:t>自成立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5E20"/>
                          </a:solidFill>
                        </a:rPr>
                        <a:t>+152.6%</a:t>
                      </a:r>
                      <a:endParaRPr lang="en-US" sz="11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</a:rPr>
                        <a:t>+118.4%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2" name="Text 29"/>
          <p:cNvSpPr/>
          <p:nvPr/>
        </p:nvSpPr>
        <p:spPr>
          <a:xfrm>
            <a:off x="4791456" y="2551176"/>
            <a:ext cx="3968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8888"/>
                </a:solidFill>
              </a:rPr>
              <a:t>★ 近1年全球科技型基金四分位排名：第1四分位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663440" y="3200400"/>
            <a:ext cx="4224528" cy="179222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E8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7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4791456" y="32735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</a:rPr>
              <a:t>最新資產配置（2025/05）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791456" y="3621024"/>
            <a:ext cx="707746" cy="329184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>
                <a:alpha val="0"/>
              </a:srgbClr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791456" y="3995928"/>
            <a:ext cx="7077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A1B9A"/>
                </a:solidFill>
              </a:rPr>
              <a:t>42%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791456" y="4279392"/>
            <a:ext cx="70774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</a:rPr>
              <a:t>半導體/IC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5563210" y="3621024"/>
            <a:ext cx="707746" cy="329184"/>
          </a:xfrm>
          <a:prstGeom prst="rect">
            <a:avLst/>
          </a:prstGeom>
          <a:solidFill>
            <a:srgbClr val="1565A0"/>
          </a:solidFill>
          <a:ln w="12700">
            <a:solidFill>
              <a:srgbClr val="1565A0">
                <a:alpha val="0"/>
              </a:srgbClr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563210" y="3995928"/>
            <a:ext cx="7077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5A0"/>
                </a:solidFill>
              </a:rPr>
              <a:t>28%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5563210" y="4279392"/>
            <a:ext cx="70774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</a:rPr>
              <a:t>軟體/雲端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6334963" y="3621024"/>
            <a:ext cx="707746" cy="32918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334963" y="3995928"/>
            <a:ext cx="7077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7D32"/>
                </a:solidFill>
              </a:rPr>
              <a:t>16%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6334963" y="4279392"/>
            <a:ext cx="70774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</a:rPr>
              <a:t>通訊設備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7106717" y="3621024"/>
            <a:ext cx="707746" cy="329184"/>
          </a:xfrm>
          <a:prstGeom prst="rect">
            <a:avLst/>
          </a:prstGeom>
          <a:solidFill>
            <a:srgbClr val="C8A030"/>
          </a:solidFill>
          <a:ln w="12700">
            <a:solidFill>
              <a:srgbClr val="C8A030">
                <a:alpha val="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106717" y="3995928"/>
            <a:ext cx="7077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A030"/>
                </a:solidFill>
              </a:rPr>
              <a:t>9%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106717" y="4279392"/>
            <a:ext cx="70774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</a:rPr>
              <a:t>衛星/物聯網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7878470" y="3621024"/>
            <a:ext cx="707746" cy="329184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>
                <a:alpha val="0"/>
              </a:srgbClr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878470" y="3995928"/>
            <a:ext cx="7077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88888"/>
                </a:solidFill>
              </a:rPr>
              <a:t>5%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7878470" y="4279392"/>
            <a:ext cx="70774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</a:rPr>
              <a:t>現金及其他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732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基金四｜安聯智慧城市收益基金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" y="768096"/>
            <a:ext cx="4251960" cy="42245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E8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92608" y="859536"/>
            <a:ext cx="1280160" cy="201168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2608" y="859536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類型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731520" y="859536"/>
            <a:ext cx="84124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651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859536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4444"/>
                </a:solidFill>
              </a:rPr>
              <a:t>全球多元 ／ 主題收益型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1682496" y="859536"/>
            <a:ext cx="1280160" cy="201168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82496" y="859536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風險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121408" y="859536"/>
            <a:ext cx="84124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651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21408" y="859536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4444"/>
                </a:solidFill>
              </a:rPr>
              <a:t>穩健積極型（RR4）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3072384" y="859536"/>
            <a:ext cx="1280160" cy="201168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72384" y="859536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幣別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511296" y="859536"/>
            <a:ext cx="84124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651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11296" y="859536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4444"/>
                </a:solidFill>
              </a:rPr>
              <a:t>美元 / 台幣月配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292608" y="1115568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基金規模：</a:t>
            </a:r>
            <a:pPr indent="0" marL="0">
              <a:buNone/>
            </a:pPr>
            <a:r>
              <a:rPr lang="en-US" sz="850" b="1" dirty="0">
                <a:solidFill>
                  <a:srgbClr val="444444"/>
                </a:solidFill>
              </a:rPr>
              <a:t>約 USD 9 億</a:t>
            </a:r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　｜　配息率：</a:t>
            </a:r>
            <a:pPr indent="0" marL="0">
              <a:buNone/>
            </a:pPr>
            <a:r>
              <a:rPr lang="en-US" sz="850" b="1" dirty="0">
                <a:solidFill>
                  <a:srgbClr val="E65100"/>
                </a:solidFill>
              </a:rPr>
              <a:t>約 7.0–8.5% / 年（月配息）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292608" y="138988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5100"/>
                </a:solidFill>
              </a:rPr>
              <a:t>核心投資策略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92608" y="1719072"/>
            <a:ext cx="50292" cy="73152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048" y="17190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</a:rPr>
              <a:t>① 智慧城市主題：投資未來城市建設浪潮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84048" y="201168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444444"/>
                </a:solidFill>
              </a:rPr>
              <a:t>佈局全球智慧交通、能源轉型、數位基礎設施及社會住宅，掌握政府政策支持下的長期增長紅利。</a:t>
            </a:r>
            <a:endParaRPr lang="en-US" sz="880" dirty="0"/>
          </a:p>
        </p:txBody>
      </p:sp>
      <p:sp>
        <p:nvSpPr>
          <p:cNvPr id="22" name="Shape 20"/>
          <p:cNvSpPr/>
          <p:nvPr/>
        </p:nvSpPr>
        <p:spPr>
          <a:xfrm>
            <a:off x="292608" y="2761488"/>
            <a:ext cx="50292" cy="73152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" y="276148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</a:rPr>
              <a:t>② 股債混合、多元資產：兼顧成長與配息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84048" y="3054096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444444"/>
                </a:solidFill>
              </a:rPr>
              <a:t>同時持有具股息配發能力的基礎設施股、不動產投資信託（REITs）與投資等級企業債，提升組合穩定性。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292608" y="3803904"/>
            <a:ext cx="50292" cy="73152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38039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</a:rPr>
              <a:t>③ ESG 整合篩選：永續投資兼具回報潛力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84048" y="4096512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444444"/>
                </a:solidFill>
              </a:rPr>
              <a:t>嚴格納入 ESG 評分篩選，聚焦治理良好、碳排低的優質企業，同步符合國際永續投資趨勢。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292608" y="477316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888888"/>
                </a:solidFill>
              </a:rPr>
              <a:t>※ 主題式基金集中度較高，REITs 受利率環境影響較大。過往績效不代表未來表現。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4663440" y="768096"/>
            <a:ext cx="4224528" cy="230428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E8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7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791456" y="8412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</a:rPr>
              <a:t>績效表現（截至 2025/05）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91456" y="1152144"/>
          <a:ext cx="3968496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508760"/>
                <a:gridCol w="1408176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744"/>
                          </a:solidFill>
                        </a:rPr>
                        <a:t>期間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65100"/>
                          </a:solidFill>
                        </a:rPr>
                        <a:t>本基金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888888"/>
                          </a:solidFill>
                        </a:rPr>
                        <a:t>同類均值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744"/>
                          </a:solidFill>
                        </a:rPr>
                        <a:t>近1年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5E20"/>
                          </a:solidFill>
                        </a:rPr>
                        <a:t>+16.8%</a:t>
                      </a:r>
                      <a:endParaRPr lang="en-US" sz="11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</a:rPr>
                        <a:t>+11.2%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744"/>
                          </a:solidFill>
                        </a:rPr>
                        <a:t>近3年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5E20"/>
                          </a:solidFill>
                        </a:rPr>
                        <a:t>+32.4%</a:t>
                      </a:r>
                      <a:endParaRPr lang="en-US" sz="11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</a:rPr>
                        <a:t>+22.8%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744"/>
                          </a:solidFill>
                        </a:rPr>
                        <a:t>近5年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5E20"/>
                          </a:solidFill>
                        </a:rPr>
                        <a:t>+68.9%</a:t>
                      </a:r>
                      <a:endParaRPr lang="en-US" sz="11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</a:rPr>
                        <a:t>+48.3%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744"/>
                          </a:solidFill>
                        </a:rPr>
                        <a:t>自成立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5E20"/>
                          </a:solidFill>
                        </a:rPr>
                        <a:t>+84.6%</a:t>
                      </a:r>
                      <a:endParaRPr lang="en-US" sz="11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</a:rPr>
                        <a:t>+59.1%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2" name="Text 29"/>
          <p:cNvSpPr/>
          <p:nvPr/>
        </p:nvSpPr>
        <p:spPr>
          <a:xfrm>
            <a:off x="4791456" y="2551176"/>
            <a:ext cx="3968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8888"/>
                </a:solidFill>
              </a:rPr>
              <a:t>★ 近3年主題收益型基金績效前30%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663440" y="3200400"/>
            <a:ext cx="4224528" cy="179222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E8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7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4791456" y="32735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</a:rPr>
              <a:t>最新資產配置（2025/05）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791456" y="3621024"/>
            <a:ext cx="707746" cy="329184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>
                <a:alpha val="0"/>
              </a:srgbClr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791456" y="3995928"/>
            <a:ext cx="7077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5100"/>
                </a:solidFill>
              </a:rPr>
              <a:t>35%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791456" y="4279392"/>
            <a:ext cx="70774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</a:rPr>
              <a:t>基礎設施股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5563210" y="3621024"/>
            <a:ext cx="707746" cy="329184"/>
          </a:xfrm>
          <a:prstGeom prst="rect">
            <a:avLst/>
          </a:prstGeom>
          <a:solidFill>
            <a:srgbClr val="1565A0"/>
          </a:solidFill>
          <a:ln w="12700">
            <a:solidFill>
              <a:srgbClr val="1565A0">
                <a:alpha val="0"/>
              </a:srgbClr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563210" y="3995928"/>
            <a:ext cx="7077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5A0"/>
                </a:solidFill>
              </a:rPr>
              <a:t>25%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5563210" y="4279392"/>
            <a:ext cx="70774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</a:rPr>
              <a:t>REITs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6334963" y="3621024"/>
            <a:ext cx="707746" cy="32918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334963" y="3995928"/>
            <a:ext cx="7077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7D32"/>
                </a:solidFill>
              </a:rPr>
              <a:t>22%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6334963" y="4279392"/>
            <a:ext cx="70774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</a:rPr>
              <a:t>企業債/優先股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7106717" y="3621024"/>
            <a:ext cx="707746" cy="329184"/>
          </a:xfrm>
          <a:prstGeom prst="rect">
            <a:avLst/>
          </a:prstGeom>
          <a:solidFill>
            <a:srgbClr val="C8A030"/>
          </a:solidFill>
          <a:ln w="12700">
            <a:solidFill>
              <a:srgbClr val="C8A030">
                <a:alpha val="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106717" y="3995928"/>
            <a:ext cx="7077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A030"/>
                </a:solidFill>
              </a:rPr>
              <a:t>12%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106717" y="4279392"/>
            <a:ext cx="70774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</a:rPr>
              <a:t>公用事業股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7878470" y="3621024"/>
            <a:ext cx="707746" cy="329184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>
                <a:alpha val="0"/>
              </a:srgbClr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878470" y="3995928"/>
            <a:ext cx="7077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88888"/>
                </a:solidFill>
              </a:rPr>
              <a:t>6%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7878470" y="4279392"/>
            <a:ext cx="70774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</a:rPr>
              <a:t>現金及其他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732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回測分析｜最大夏普比率策略　歷史 3 年數據驗證（2022/06 ~ 2025/05）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" y="749808"/>
            <a:ext cx="2139696" cy="111556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92608" y="82296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16.8%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92608" y="138988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</a:rPr>
              <a:t>年化報酬率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92608" y="160020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C8A030"/>
                </a:solidFill>
              </a:rPr>
              <a:t>夏普最優投資組合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404872" y="749808"/>
            <a:ext cx="2139696" cy="111556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14600" y="82296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10.2%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2514600" y="138988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</a:rPr>
              <a:t>年化波動率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514600" y="160020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C8A030"/>
                </a:solidFill>
              </a:rPr>
              <a:t>中低風險水準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626864" y="749808"/>
            <a:ext cx="2139696" cy="111556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36592" y="82296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A030"/>
                </a:solidFill>
              </a:rPr>
              <a:t>1.24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736592" y="138988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</a:rPr>
              <a:t>夏普比率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736592" y="160020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C8A030"/>
                </a:solidFill>
              </a:rPr>
              <a:t>風報比卓越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848856" y="749808"/>
            <a:ext cx="2139696" cy="111556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2296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-11.4%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958584" y="138988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</a:rPr>
              <a:t>最大回撤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958584" y="160020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C8A030"/>
                </a:solidFill>
              </a:rPr>
              <a:t>組合最大回撤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82880" y="1975104"/>
            <a:ext cx="4983480" cy="298094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E8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7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10896" y="206654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</a:rPr>
              <a:t>最適配置權重（最大夏普比率）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0896" y="2377440"/>
          <a:ext cx="4736592" cy="914400"/>
        </p:xfrm>
        <a:graphic>
          <a:graphicData uri="http://schemas.openxmlformats.org/drawingml/2006/table">
            <a:tbl>
              <a:tblPr/>
              <a:tblGrid>
                <a:gridCol w="1719072"/>
                <a:gridCol w="749808"/>
                <a:gridCol w="804672"/>
                <a:gridCol w="749808"/>
                <a:gridCol w="713232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基金名稱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配置比例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年化報酬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年化波動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夏普比率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744"/>
                          </a:solidFill>
                        </a:rPr>
                        <a:t>PIMCO收益增長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65A0"/>
                          </a:solidFill>
                        </a:rPr>
                        <a:t>38%</a:t>
                      </a:r>
                      <a:endParaRPr lang="en-US" sz="11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5E20"/>
                          </a:solidFill>
                        </a:rPr>
                        <a:t>+11.2%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444"/>
                          </a:solidFill>
                        </a:rPr>
                        <a:t>6.8%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444"/>
                          </a:solidFill>
                        </a:rPr>
                        <a:t>1.05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744"/>
                          </a:solidFill>
                        </a:rPr>
                        <a:t>國泰國泰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</a:rPr>
                        <a:t>22%</a:t>
                      </a:r>
                      <a:endParaRPr lang="en-US" sz="11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5E20"/>
                          </a:solidFill>
                        </a:rPr>
                        <a:t>+24.1%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444"/>
                          </a:solidFill>
                        </a:rPr>
                        <a:t>16.4%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444"/>
                          </a:solidFill>
                        </a:rPr>
                        <a:t>1.22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744"/>
                          </a:solidFill>
                        </a:rPr>
                        <a:t>路博邁次世代通訊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A1B9A"/>
                          </a:solidFill>
                        </a:rPr>
                        <a:t>28%</a:t>
                      </a:r>
                      <a:endParaRPr lang="en-US" sz="11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5E20"/>
                          </a:solidFill>
                        </a:rPr>
                        <a:t>+26.8%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444"/>
                          </a:solidFill>
                        </a:rPr>
                        <a:t>18.9%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444"/>
                          </a:solidFill>
                        </a:rPr>
                        <a:t>1.20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744"/>
                          </a:solidFill>
                        </a:rPr>
                        <a:t>安聯智慧城市收益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65100"/>
                          </a:solidFill>
                        </a:rPr>
                        <a:t>12%</a:t>
                      </a:r>
                      <a:endParaRPr lang="en-US" sz="11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5E20"/>
                          </a:solidFill>
                        </a:rPr>
                        <a:t>+15.2%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444"/>
                          </a:solidFill>
                        </a:rPr>
                        <a:t>11.3%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444"/>
                          </a:solidFill>
                        </a:rPr>
                        <a:t>0.99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投資組合合計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100%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8A030"/>
                          </a:solidFill>
                        </a:rPr>
                        <a:t>16.8%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10.2%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8A030"/>
                          </a:solidFill>
                        </a:rPr>
                        <a:t>1.24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310896" y="367588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</a:rPr>
              <a:t>歷史年度績效</a:t>
            </a:r>
            <a:endParaRPr lang="en-US" sz="10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0896" y="3931920"/>
          <a:ext cx="4736592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749808"/>
                <a:gridCol w="822960"/>
                <a:gridCol w="822960"/>
                <a:gridCol w="896112"/>
                <a:gridCol w="877824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年度</a:t>
                      </a:r>
                      <a:endParaRPr lang="en-US" sz="9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投組</a:t>
                      </a:r>
                      <a:endParaRPr lang="en-US" sz="9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PIMCO</a:t>
                      </a:r>
                      <a:endParaRPr lang="en-US" sz="9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國泰國泰</a:t>
                      </a:r>
                      <a:endParaRPr lang="en-US" sz="9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路博邁通訊</a:t>
                      </a:r>
                      <a:endParaRPr lang="en-US" sz="9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安聯城市</a:t>
                      </a:r>
                      <a:endParaRPr lang="en-US" sz="9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2744"/>
                          </a:solidFill>
                        </a:rPr>
                        <a:t>2022</a:t>
                      </a:r>
                      <a:endParaRPr lang="en-US" sz="9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62828"/>
                          </a:solidFill>
                        </a:rPr>
                        <a:t>-5.8%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</a:rPr>
                        <a:t>-3.2%</a:t>
                      </a:r>
                      <a:endParaRPr lang="en-US" sz="9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</a:rPr>
                        <a:t>-18.4%</a:t>
                      </a:r>
                      <a:endParaRPr lang="en-US" sz="9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</a:rPr>
                        <a:t>-22.1%</a:t>
                      </a:r>
                      <a:endParaRPr lang="en-US" sz="9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</a:rPr>
                        <a:t>-8.6%</a:t>
                      </a:r>
                      <a:endParaRPr lang="en-US" sz="9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2744"/>
                          </a:solidFill>
                        </a:rPr>
                        <a:t>2023</a:t>
                      </a:r>
                      <a:endParaRPr lang="en-US" sz="9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5E20"/>
                          </a:solidFill>
                        </a:rPr>
                        <a:t>+22.4%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</a:rPr>
                        <a:t>+9.8%</a:t>
                      </a:r>
                      <a:endParaRPr lang="en-US" sz="9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</a:rPr>
                        <a:t>+28.6%</a:t>
                      </a:r>
                      <a:endParaRPr lang="en-US" sz="9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</a:rPr>
                        <a:t>+38.4%</a:t>
                      </a:r>
                      <a:endParaRPr lang="en-US" sz="9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</a:rPr>
                        <a:t>+18.2%</a:t>
                      </a:r>
                      <a:endParaRPr lang="en-US" sz="9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2744"/>
                          </a:solidFill>
                        </a:rPr>
                        <a:t>2024</a:t>
                      </a:r>
                      <a:endParaRPr lang="en-US" sz="9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5E20"/>
                          </a:solidFill>
                        </a:rPr>
                        <a:t>+19.6%</a:t>
                      </a:r>
                      <a:endParaRPr lang="en-US" sz="9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</a:rPr>
                        <a:t>+12.4%</a:t>
                      </a:r>
                      <a:endParaRPr lang="en-US" sz="9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</a:rPr>
                        <a:t>+31.2%</a:t>
                      </a:r>
                      <a:endParaRPr lang="en-US" sz="9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</a:rPr>
                        <a:t>+33.5%</a:t>
                      </a:r>
                      <a:endParaRPr lang="en-US" sz="9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</a:rPr>
                        <a:t>+16.8%</a:t>
                      </a:r>
                      <a:endParaRPr lang="en-US" sz="9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hape 21"/>
          <p:cNvSpPr/>
          <p:nvPr/>
        </p:nvSpPr>
        <p:spPr>
          <a:xfrm>
            <a:off x="5367528" y="1975104"/>
            <a:ext cx="3602736" cy="298094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E8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7000"/>
              </a:srgbClr>
            </a:outerShdw>
          </a:effectLst>
        </p:spPr>
      </p:sp>
      <p:sp>
        <p:nvSpPr>
          <p:cNvPr id="26" name="Text 22"/>
          <p:cNvSpPr/>
          <p:nvPr/>
        </p:nvSpPr>
        <p:spPr>
          <a:xfrm>
            <a:off x="5486400" y="2066544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</a:rPr>
              <a:t>相關係數矩陣</a:t>
            </a:r>
            <a:endParaRPr lang="en-US" sz="11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2350008"/>
          <a:ext cx="33832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571500"/>
                <a:gridCol w="571500"/>
                <a:gridCol w="571500"/>
                <a:gridCol w="571500"/>
              </a:tblGrid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PIMCO</a:t>
                      </a:r>
                      <a:endParaRPr lang="en-US" sz="7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國泰國泰</a:t>
                      </a:r>
                      <a:endParaRPr lang="en-US" sz="7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路博邁通訊</a:t>
                      </a:r>
                      <a:endParaRPr lang="en-US" sz="7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安聯城市</a:t>
                      </a:r>
                      <a:endParaRPr lang="en-US" sz="7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PIMCO</a:t>
                      </a:r>
                      <a:endParaRPr lang="en-US" sz="7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1.00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444"/>
                          </a:solidFill>
                        </a:rPr>
                        <a:t>0.24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444"/>
                          </a:solidFill>
                        </a:rPr>
                        <a:t>0.18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444"/>
                          </a:solidFill>
                        </a:rPr>
                        <a:t>0.35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國泰國泰</a:t>
                      </a:r>
                      <a:endParaRPr lang="en-US" sz="7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444"/>
                          </a:solidFill>
                        </a:rPr>
                        <a:t>0.24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1.00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62828"/>
                          </a:solidFill>
                        </a:rPr>
                        <a:t>0.72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C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444"/>
                          </a:solidFill>
                        </a:rPr>
                        <a:t>0.58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路博邁通訊</a:t>
                      </a:r>
                      <a:endParaRPr lang="en-US" sz="7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444"/>
                          </a:solidFill>
                        </a:rPr>
                        <a:t>0.18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62828"/>
                          </a:solidFill>
                        </a:rPr>
                        <a:t>0.72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C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1.00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444"/>
                          </a:solidFill>
                        </a:rPr>
                        <a:t>0.49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安聯城市</a:t>
                      </a:r>
                      <a:endParaRPr lang="en-US" sz="7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444"/>
                          </a:solidFill>
                        </a:rPr>
                        <a:t>0.35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444"/>
                          </a:solidFill>
                        </a:rPr>
                        <a:t>0.58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444"/>
                          </a:solidFill>
                        </a:rPr>
                        <a:t>0.49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1.00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</a:tbl>
          </a:graphicData>
        </a:graphic>
      </p:graphicFrame>
      <p:sp>
        <p:nvSpPr>
          <p:cNvPr id="28" name="Text 23"/>
          <p:cNvSpPr/>
          <p:nvPr/>
        </p:nvSpPr>
        <p:spPr>
          <a:xfrm>
            <a:off x="5486400" y="359359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888888"/>
                </a:solidFill>
              </a:rPr>
              <a:t>紅底=高相關(≥0.7)，綠底=低相關(&lt;0.35)，低相關有助分散風險</a:t>
            </a:r>
            <a:endParaRPr lang="en-US" sz="750" dirty="0"/>
          </a:p>
        </p:txBody>
      </p:sp>
      <p:sp>
        <p:nvSpPr>
          <p:cNvPr id="29" name="Text 24"/>
          <p:cNvSpPr/>
          <p:nvPr/>
        </p:nvSpPr>
        <p:spPr>
          <a:xfrm>
            <a:off x="5486400" y="3858768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</a:rPr>
              <a:t>持有期間正報酬機率（歷史統計）</a:t>
            </a:r>
            <a:endParaRPr lang="en-US" sz="10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4114800"/>
          <a:ext cx="3383280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594360"/>
                <a:gridCol w="530352"/>
                <a:gridCol w="530352"/>
                <a:gridCol w="548640"/>
                <a:gridCol w="521208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持有期間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投組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PIMCO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國泰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路博邁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安聯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2744"/>
                          </a:solidFill>
                        </a:rPr>
                        <a:t>1個月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B5E20"/>
                          </a:solidFill>
                        </a:rPr>
                        <a:t>68.5%</a:t>
                      </a:r>
                      <a:endParaRPr lang="en-US" sz="9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</a:rPr>
                        <a:t>62.3%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</a:rPr>
                        <a:t>58.4%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</a:rPr>
                        <a:t>55.2%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</a:rPr>
                        <a:t>61.8%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2744"/>
                          </a:solidFill>
                        </a:rPr>
                        <a:t>3個月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B5E20"/>
                          </a:solidFill>
                        </a:rPr>
                        <a:t>74.2%</a:t>
                      </a:r>
                      <a:endParaRPr lang="en-US" sz="9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</a:rPr>
                        <a:t>68.9%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</a:rPr>
                        <a:t>63.5%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</a:rPr>
                        <a:t>60.8%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</a:rPr>
                        <a:t>67.4%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2744"/>
                          </a:solidFill>
                        </a:rPr>
                        <a:t>6個月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B5E20"/>
                          </a:solidFill>
                        </a:rPr>
                        <a:t>80.6%</a:t>
                      </a:r>
                      <a:endParaRPr lang="en-US" sz="9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</a:rPr>
                        <a:t>75.4%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</a:rPr>
                        <a:t>70.2%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</a:rPr>
                        <a:t>67.9%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</a:rPr>
                        <a:t>73.1%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2744"/>
                          </a:solidFill>
                        </a:rPr>
                        <a:t>1年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B5E20"/>
                          </a:solidFill>
                        </a:rPr>
                        <a:t>87.3%</a:t>
                      </a:r>
                      <a:endParaRPr lang="en-US" sz="9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</a:rPr>
                        <a:t>82.6%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</a:rPr>
                        <a:t>78.4%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</a:rPr>
                        <a:t>75.6%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</a:rPr>
                        <a:t>80.3%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2744"/>
                          </a:solidFill>
                        </a:rPr>
                        <a:t>2年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B5E20"/>
                          </a:solidFill>
                        </a:rPr>
                        <a:t>93.8%</a:t>
                      </a:r>
                      <a:endParaRPr lang="en-US" sz="9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</a:rPr>
                        <a:t>90.2%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</a:rPr>
                        <a:t>86.5%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</a:rPr>
                        <a:t>84.1%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</a:rPr>
                        <a:t>88.7%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2744"/>
                          </a:solidFill>
                        </a:rPr>
                        <a:t>3年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B5E20"/>
                          </a:solidFill>
                        </a:rPr>
                        <a:t>100%</a:t>
                      </a:r>
                      <a:endParaRPr lang="en-US" sz="9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</a:rPr>
                        <a:t>96.4%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</a:rPr>
                        <a:t>94.8%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</a:rPr>
                        <a:t>92.3%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</a:rPr>
                        <a:t>95.6%</a:t>
                      </a:r>
                      <a:endParaRPr lang="en-US" sz="85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2560320"/>
            <a:ext cx="3474720" cy="3474720"/>
          </a:xfrm>
          <a:prstGeom prst="ellipse">
            <a:avLst/>
          </a:prstGeom>
          <a:solidFill>
            <a:srgbClr val="2D3D6B">
              <a:alpha val="32000"/>
            </a:srgbClr>
          </a:solidFill>
          <a:ln w="12700">
            <a:solidFill>
              <a:srgbClr val="2D3D6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64592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A030"/>
                </a:solidFill>
              </a:rPr>
              <a:t>投資組合重點總結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877824"/>
            <a:ext cx="8778240" cy="0"/>
          </a:xfrm>
          <a:prstGeom prst="line">
            <a:avLst/>
          </a:prstGeom>
          <a:noFill/>
          <a:ln w="19050">
            <a:solidFill>
              <a:srgbClr val="C8A0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2608" y="1051560"/>
            <a:ext cx="365760" cy="365760"/>
          </a:xfrm>
          <a:prstGeom prst="ellipse">
            <a:avLst/>
          </a:prstGeom>
          <a:solidFill>
            <a:srgbClr val="1565A0"/>
          </a:solidFill>
          <a:ln w="12700">
            <a:solidFill>
              <a:srgbClr val="1565A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2608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744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987552"/>
            <a:ext cx="6858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【多元佈局】四大基金橫跨債券、台股、全球科技、智慧城市，互補特性顯著降低整體波動。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92608" y="1783080"/>
            <a:ext cx="365760" cy="365760"/>
          </a:xfrm>
          <a:prstGeom prst="ellipse">
            <a:avLst/>
          </a:prstGeom>
          <a:solidFill>
            <a:srgbClr val="C8A030"/>
          </a:solidFill>
          <a:ln w="12700">
            <a:solidFill>
              <a:srgbClr val="C8A030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744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49808" y="1719072"/>
            <a:ext cx="6858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【優異風報比】最大夏普比率策略回測夏普值達 1.24，年化報酬 16.8%，最大回撤僅 -11.4%。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92608" y="2514600"/>
            <a:ext cx="365760" cy="365760"/>
          </a:xfrm>
          <a:prstGeom prst="ellipse">
            <a:avLst/>
          </a:prstGeom>
          <a:solidFill>
            <a:srgbClr val="1565A0"/>
          </a:solidFill>
          <a:ln w="12700">
            <a:solidFill>
              <a:srgbClr val="1565A0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2608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744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49808" y="2450592"/>
            <a:ext cx="6858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【穩定現金流】PIMCO 配息率 9.0% + 安聯 7.5%，搭配成長型標的，兼顧「領息」與「成長」。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92608" y="3246120"/>
            <a:ext cx="365760" cy="365760"/>
          </a:xfrm>
          <a:prstGeom prst="ellipse">
            <a:avLst/>
          </a:prstGeom>
          <a:solidFill>
            <a:srgbClr val="C8A030"/>
          </a:solidFill>
          <a:ln w="12700">
            <a:solidFill>
              <a:srgbClr val="C8A030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260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744"/>
                </a:solidFill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49808" y="3182112"/>
            <a:ext cx="6858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【最佳配置】PIMCO 38% ｜ 路博邁 28% ｜ 國泰 22% ｜ 安聯 12%，由模型科學優化得出。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92608" y="3977640"/>
            <a:ext cx="365760" cy="365760"/>
          </a:xfrm>
          <a:prstGeom prst="ellipse">
            <a:avLst/>
          </a:prstGeom>
          <a:solidFill>
            <a:srgbClr val="C8A030"/>
          </a:solidFill>
          <a:ln w="12700">
            <a:solidFill>
              <a:srgbClr val="C8A030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2608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744"/>
                </a:solidFill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49808" y="3913632"/>
            <a:ext cx="6858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8A030"/>
                </a:solidFill>
              </a:rPr>
              <a:t>【長期正報酬】持有滿3年正報酬機率高達 100%，建議以中長期（3年以上）視野配置。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0D1A33"/>
          </a:solidFill>
          <a:ln w="12700">
            <a:solidFill>
              <a:srgbClr val="0D1A33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4722876"/>
            <a:ext cx="8641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88AA"/>
                </a:solidFill>
              </a:rPr>
              <a:t>⚠️  本報告所有數據均基於歷史資料計算，不代表未來績效。配息金額以各機構實際公告為準。本報告僅供內部教育訓練使用，請勿外流。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四大基金推薦 × 最適投資組合報告</dc:title>
  <dc:subject>PptxGenJS Presentation</dc:subject>
  <dc:creator>PptxGenJS</dc:creator>
  <cp:lastModifiedBy>PptxGenJS</cp:lastModifiedBy>
  <cp:revision>1</cp:revision>
  <dcterms:created xsi:type="dcterms:W3CDTF">2026-06-11T15:05:49Z</dcterms:created>
  <dcterms:modified xsi:type="dcterms:W3CDTF">2026-06-11T15:05:49Z</dcterms:modified>
</cp:coreProperties>
</file>