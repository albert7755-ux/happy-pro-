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配置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投資等級公司債</c:v>
                </c:pt>
                <c:pt idx="1">
                  <c:v>多元收益基金</c:v>
                </c:pt>
                <c:pt idx="2">
                  <c:v>新興市場債券</c:v>
                </c:pt>
                <c:pt idx="3">
                  <c:v>全球股票基金</c:v>
                </c:pt>
                <c:pt idx="4">
                  <c:v>現金/貨幣市場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逐月配息入帳預測 (萬 NTD)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每月配息 (萬NTD)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18.5</c:v>
                </c:pt>
                <c:pt idx="1">
                  <c:v>27.3</c:v>
                </c:pt>
                <c:pt idx="2">
                  <c:v>24.0</c:v>
                </c:pt>
                <c:pt idx="3">
                  <c:v>28.8</c:v>
                </c:pt>
                <c:pt idx="4">
                  <c:v>18.5</c:v>
                </c:pt>
                <c:pt idx="5">
                  <c:v>34.2</c:v>
                </c:pt>
                <c:pt idx="6">
                  <c:v>24.0</c:v>
                </c:pt>
                <c:pt idx="7">
                  <c:v>22.1</c:v>
                </c:pt>
                <c:pt idx="8">
                  <c:v>35.6</c:v>
                </c:pt>
                <c:pt idx="9">
                  <c:v>24.0</c:v>
                </c:pt>
                <c:pt idx="10">
                  <c:v>18.5</c:v>
                </c:pt>
                <c:pt idx="11">
                  <c:v>33.8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3291840"/>
            <a:ext cx="731520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28632" y="228600"/>
            <a:ext cx="2286000" cy="64008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8632" y="320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84B"/>
                </a:solidFill>
                <a:latin typeface="Calibri"/>
              </a:rPr>
              <a:t>PRIVATE WEALTH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投資方案提案報告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CB7A"/>
                </a:solidFill>
                <a:latin typeface="Calibri"/>
              </a:rPr>
              <a:t>INVESTMENT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客戶姓名：陳○○ 先生 / 女士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提案日期：2025年6月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理財顧問：私人財富管理部門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84B"/>
                </a:solidFill>
                <a:latin typeface="Calibri"/>
              </a:rPr>
              <a:t>專業．信賴．長期財富傳承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C"/>
                </a:solidFill>
                <a:latin typeface="Calibri"/>
              </a:rPr>
              <a:t>© 2025 私人財富管理部門  |  本文件僅供內部提案使用，請勿外流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84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客戶現況分析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Client Profile &amp; Current Situation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C"/>
                </a:solidFill>
                <a:latin typeface="Calibri"/>
              </a:rPr>
              <a:t>© 2025 私人財富管理部門  |  本文件僅供內部提案使用，請勿外流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84B"/>
                </a:solidFill>
                <a:latin typeface="Calibri"/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80160"/>
            <a:ext cx="3474720" cy="508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基本資料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20240"/>
            <a:ext cx="33832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44C60"/>
                </a:solidFill>
                <a:latin typeface="Calibri"/>
              </a:rPr>
              <a:t>投資目標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011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穩定現金流 + 資產增值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560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44C60"/>
                </a:solidFill>
                <a:latin typeface="Calibri"/>
              </a:rPr>
              <a:t>風險屬性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穩健型（中低風險）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17520"/>
            <a:ext cx="33832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44C60"/>
                </a:solidFill>
                <a:latin typeface="Calibri"/>
              </a:rPr>
              <a:t>投資期間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5 – 10 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6616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657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44C60"/>
                </a:solidFill>
                <a:latin typeface="Calibri"/>
              </a:rPr>
              <a:t>可投資資產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657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NT$ 5,000 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14800"/>
            <a:ext cx="33832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206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44C60"/>
                </a:solidFill>
                <a:latin typeface="Calibri"/>
              </a:rPr>
              <a:t>稅務身份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206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中華民國居民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66344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754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44C60"/>
                </a:solidFill>
                <a:latin typeface="Calibri"/>
              </a:rPr>
              <a:t>流動性需求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754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每月配息 NT$15萬+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12080"/>
            <a:ext cx="33832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303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44C60"/>
                </a:solidFill>
                <a:latin typeface="Calibri"/>
              </a:rPr>
              <a:t>特殊考量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退休規劃、財富傳承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1280160"/>
            <a:ext cx="7863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23360" y="1280160"/>
            <a:ext cx="7863840" cy="508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現有資產配置概況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1828800"/>
            <a:ext cx="182880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類別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1828800"/>
            <a:ext cx="182880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金額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1828800"/>
            <a:ext cx="182880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佔比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1828800"/>
            <a:ext cx="182880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預估年收益率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2148840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21854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定存 / 貨幣市場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148840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21854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NT$1,500萬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2148840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21854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30%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2148840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46920" y="21854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1.8%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44144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0520" y="247802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台股基金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244144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247802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NT$800萬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244144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8120" y="247802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16%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244144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46920" y="247802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不穩定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2734056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60520" y="277063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外幣定存 (USD)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2734056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89320" y="277063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NT$1,200萬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2734056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18120" y="277063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24%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01200" y="2734056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46920" y="277063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4.5%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0" y="302666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6052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保險儲蓄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0" y="302666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8932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NT$1,000萬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302666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1812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20%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0" y="302666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4692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2.2%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0" y="3319272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60520" y="33558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其他 (房產/黃金)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0" y="3319272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89320" y="33558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NT$500萬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0" y="3319272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18120" y="33558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10%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601200" y="3319272"/>
            <a:ext cx="1828800" cy="2926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46920" y="33558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23360" y="3749039"/>
            <a:ext cx="7863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023360" y="3749039"/>
            <a:ext cx="7863840" cy="508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062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核心需求與痛點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6052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B"/>
                </a:solidFill>
                <a:latin typeface="Calibri"/>
              </a:rPr>
              <a:t>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348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現金流不足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6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C60"/>
                </a:solidFill>
                <a:latin typeface="Calibri"/>
              </a:rPr>
              <a:t>現有配息收入低於退休月支出目標 NT$15萬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60520" y="4773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B"/>
                </a:solidFill>
                <a:latin typeface="Calibri"/>
              </a:rPr>
              <a:t>②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34840" y="4773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集中風險高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9360" y="4773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C60"/>
                </a:solidFill>
                <a:latin typeface="Calibri"/>
              </a:rPr>
              <a:t>資產過度集中台幣定存與台股，匯率與市場風險大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60520" y="52486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B"/>
                </a:solidFill>
                <a:latin typeface="Calibri"/>
              </a:rPr>
              <a:t>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34840" y="52486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報酬率偏低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9360" y="52486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C60"/>
                </a:solidFill>
                <a:latin typeface="Calibri"/>
              </a:rPr>
              <a:t>整體資產年化報酬率約 2.5%，未跟上通膨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60520" y="57241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B"/>
                </a:solidFill>
                <a:latin typeface="Calibri"/>
              </a:rPr>
              <a:t>④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34840" y="57241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全球分散不足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09360" y="57241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C60"/>
                </a:solidFill>
                <a:latin typeface="Calibri"/>
              </a:rPr>
              <a:t>缺乏美元優質公司債與全球多元資產配置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2025 市場觀點與投資主題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Market Outlook &amp; Investment Themes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C"/>
                </a:solidFill>
                <a:latin typeface="Calibri"/>
              </a:rPr>
              <a:t>© 2025 私人財富管理部門  |  本文件僅供內部提案使用，請勿外流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84B"/>
                </a:solidFill>
                <a:latin typeface="Calibri"/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6692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73152" cy="2331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🔵  投資等級美元公司債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5120640" cy="127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聯準會降息循環啟動，長債殖利率仍維持 4.8-5.6% 吸引力。
優質企業信用穩健，提供穩定現金流與資本利得機會。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6692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73152" cy="2331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4813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🟡  多元資產收益基金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993392"/>
            <a:ext cx="5120640" cy="127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2140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全球股債混合策略，年化配息率約 7-10%。
透過動態資產配置降低波動、提升風險調整後報酬。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56692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73152" cy="2331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502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🟢  新興市場精選債券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62272"/>
            <a:ext cx="5120640" cy="127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亞洲優質主權債與金融債，殖利率溢價吸引人。
選擇性布局印度、沙烏地主權債，分散地緣風險。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40480"/>
            <a:ext cx="56692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40480"/>
            <a:ext cx="73152" cy="233172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9502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🔴  台幣/外幣資產再平衡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4462272"/>
            <a:ext cx="5120640" cy="127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59028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台幣升值壓力下，適度增加外幣資產至 50%+。
美元資產提供天然避險並享受較高利率環境。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建議資產配置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Recommended Asset Allocation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C"/>
                </a:solidFill>
                <a:latin typeface="Calibri"/>
              </a:rPr>
              <a:t>© 2025 私人財富管理部門  |  本文件僅供內部提案使用，請勿外流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84B"/>
                </a:solidFill>
                <a:latin typeface="Calibri"/>
              </a:rPr>
              <a:t>4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4114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411480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配置明細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011680"/>
            <a:ext cx="2286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投資等級公司債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042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A84B"/>
                </a:solidFill>
                <a:latin typeface="Calibri"/>
              </a:rPr>
              <a:t>NT$2,000萬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834640"/>
            <a:ext cx="228600" cy="502920"/>
          </a:xfrm>
          <a:prstGeom prst="rect">
            <a:avLst/>
          </a:prstGeom>
          <a:solidFill>
            <a:srgbClr val="1A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880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多元收益基金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1272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A84B"/>
                </a:solidFill>
                <a:latin typeface="Calibri"/>
              </a:rPr>
              <a:t>NT$1,250萬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657600"/>
            <a:ext cx="228600" cy="502920"/>
          </a:xfrm>
          <a:prstGeom prst="rect">
            <a:avLst/>
          </a:prstGeom>
          <a:solidFill>
            <a:srgbClr val="2E6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新興市場債券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9502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A84B"/>
                </a:solidFill>
                <a:latin typeface="Calibri"/>
              </a:rPr>
              <a:t>NT$750萬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480560"/>
            <a:ext cx="228600" cy="502920"/>
          </a:xfrm>
          <a:prstGeom prst="rect">
            <a:avLst/>
          </a:prstGeom>
          <a:solidFill>
            <a:srgbClr val="448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全球股票基金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7731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12%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A84B"/>
                </a:solidFill>
                <a:latin typeface="Calibri"/>
              </a:rPr>
              <a:t>NT$600萬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5303520"/>
            <a:ext cx="228600" cy="502920"/>
          </a:xfrm>
          <a:prstGeom prst="rect">
            <a:avLst/>
          </a:prstGeom>
          <a:solidFill>
            <a:srgbClr val="B0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現金/貨幣市場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55961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C60"/>
                </a:solidFill>
                <a:latin typeface="Calibri"/>
              </a:rPr>
              <a:t>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A84B"/>
                </a:solidFill>
                <a:latin typeface="Calibri"/>
              </a:rPr>
              <a:t>NT$400萬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274320" y="1280160"/>
          <a:ext cx="713232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383280" y="33832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Calibri"/>
              </a:rPr>
              <a:t>NT$
5,000萬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852160"/>
            <a:ext cx="2743200" cy="749808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852160"/>
            <a:ext cx="45720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5943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8A84B"/>
                </a:solidFill>
                <a:latin typeface="Calibri"/>
              </a:rPr>
              <a:t>6.8%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3276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預期年化報酬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5852160"/>
            <a:ext cx="2743200" cy="749808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6120" y="5852160"/>
            <a:ext cx="45720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55848" y="5943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8A84B"/>
                </a:solidFill>
                <a:latin typeface="Calibri"/>
              </a:rPr>
              <a:t>5.2%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63276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預期年化波動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852160"/>
            <a:ext cx="2743200" cy="749808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852160"/>
            <a:ext cx="45720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5943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8A84B"/>
                </a:solidFill>
                <a:latin typeface="Calibri"/>
              </a:rPr>
              <a:t>0.94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63276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夏普比率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5852160"/>
            <a:ext cx="2743200" cy="749808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89720" y="5852160"/>
            <a:ext cx="45720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9448" y="5943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8A84B"/>
                </a:solidFill>
                <a:latin typeface="Calibri"/>
              </a:rPr>
              <a:t>NT$288萬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99448" y="63276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年化配息收入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核心商品比較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Core Product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C"/>
                </a:solidFill>
                <a:latin typeface="Calibri"/>
              </a:rPr>
              <a:t>© 2025 私人財富管理部門  |  本文件僅供內部提案使用，請勿外流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84B"/>
                </a:solidFill>
                <a:latin typeface="Calibri"/>
              </a:rPr>
              <a:t>5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188720"/>
            <a:ext cx="164592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234440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商品名稱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188720"/>
            <a:ext cx="20116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234440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Alphabet公司債
5.5% 2046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188720"/>
            <a:ext cx="20116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234440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Meta公司債
5.5% 2045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188720"/>
            <a:ext cx="20116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234440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PIMCO收益增長基金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188720"/>
            <a:ext cx="20116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234440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聯博美國收益基金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1188720"/>
            <a:ext cx="20116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234440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施羅德環球收息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1709927"/>
            <a:ext cx="1645920" cy="5029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1755647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類型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1709927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1755647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投資等級公司債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1709927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1755647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投資等級公司債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1709927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1755647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多元收益基金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1709927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1755647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美元收益基金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1709927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1755647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全球債券基金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2231134"/>
            <a:ext cx="1645920" cy="5029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2276854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殖利率/配息率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3080" y="2231134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0" y="2276854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5.21%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2231134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2276854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5.46%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2231134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2276854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9.00%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231134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2276854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7.81%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2231134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2276854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5.51%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2752341"/>
            <a:ext cx="1645920" cy="5029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2798061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到期/存續期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83080" y="2752341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2798061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2046年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752341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0" y="2798061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2045年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2752341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2798061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8120" y="2752341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0" y="2798061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29800" y="2752341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0" y="2798061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273548"/>
            <a:ext cx="1645920" cy="5029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" y="3319268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幣別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83080" y="3273548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0" y="3319268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美元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94760" y="3273548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0" y="3319268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美元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3273548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60" y="3319268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美元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3273548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3319268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美元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29800" y="3273548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5520" y="3319268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美元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3794755"/>
            <a:ext cx="1645920" cy="5029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2880" y="3840475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信用評級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83080" y="3794755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28800" y="3840475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AA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94760" y="3794755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0480" y="3840475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AA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06440" y="3794755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52160" y="3840475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投資等級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18120" y="3794755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40" y="3840475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多元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29800" y="3794755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0" y="3840475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投資等級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160" y="4315962"/>
            <a:ext cx="1645920" cy="5029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2880" y="4361682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配息頻率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83080" y="4315962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828800" y="4361682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半年配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794760" y="4315962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40480" y="4361682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半年配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06440" y="4315962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0" y="4361682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月配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18120" y="4315962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63840" y="4361682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月配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29800" y="4315962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75520" y="4361682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月配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" y="4837169"/>
            <a:ext cx="1645920" cy="5029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" y="4882889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建議配置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83080" y="4837169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0" y="4882889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15%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794760" y="4837169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40480" y="4882889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15%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806440" y="4837169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852160" y="4882889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15%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818120" y="4837169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863840" y="4882889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10%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29800" y="4837169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75520" y="4882889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10%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37160" y="5358376"/>
            <a:ext cx="1645920" cy="5029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82880" y="5404096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建議金額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783080" y="5358376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28800" y="5404096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NT$750萬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94760" y="5358376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840480" y="5404096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NT$750萬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806440" y="5358376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52160" y="5404096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NT$750萬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818120" y="5358376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863840" y="5404096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NT$500萬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829800" y="5358376"/>
            <a:ext cx="20116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875520" y="5404096"/>
            <a:ext cx="1920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NT$500萬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83080" y="1188720"/>
            <a:ext cx="402336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3716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A84B"/>
                </a:solidFill>
                <a:latin typeface="Calibri"/>
              </a:rPr>
              <a:t>★ 重點推薦商品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7160" y="63276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0B8CC"/>
                </a:solidFill>
                <a:latin typeface="Calibri"/>
              </a:rPr>
              <a:t>以上殖利率與配息率資料來源：公司內部資料庫（2025/05），僅供參考，實際以各機構公告為準。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配息現金流試算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Cash Flow Projection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C"/>
                </a:solidFill>
                <a:latin typeface="Calibri"/>
              </a:rPr>
              <a:t>© 2025 私人財富管理部門  |  本文件僅供內部提案使用，請勿外流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84B"/>
                </a:solidFill>
                <a:latin typeface="Calibri"/>
              </a:rPr>
              <a:t>6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743200" cy="80467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45720" cy="80467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3258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8A84B"/>
                </a:solidFill>
                <a:latin typeface="Calibri"/>
              </a:rPr>
              <a:t>NT$288萬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0992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年化配息收入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234440"/>
            <a:ext cx="2743200" cy="80467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234440"/>
            <a:ext cx="45720" cy="80467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3258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8A84B"/>
                </a:solidFill>
                <a:latin typeface="Calibri"/>
              </a:rPr>
              <a:t>5.76%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70992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平均殖利率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34440"/>
            <a:ext cx="2743200" cy="80467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34440"/>
            <a:ext cx="45720" cy="80467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3258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8A84B"/>
                </a:solidFill>
                <a:latin typeface="Calibri"/>
              </a:rPr>
              <a:t>NT$24萬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70992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月均入帳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234440"/>
            <a:ext cx="2743200" cy="80467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234440"/>
            <a:ext cx="45720" cy="80467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13258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8A84B"/>
                </a:solidFill>
                <a:latin typeface="Calibri"/>
              </a:rPr>
              <a:t>+NT$9萬/月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170992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超過目標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74320" y="219456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ectangle 26"/>
          <p:cNvSpPr/>
          <p:nvPr/>
        </p:nvSpPr>
        <p:spPr>
          <a:xfrm>
            <a:off x="7955279" y="2194560"/>
            <a:ext cx="39319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2194560"/>
            <a:ext cx="393192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286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各標的年化配息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2697480"/>
            <a:ext cx="123444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6974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標的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2697480"/>
            <a:ext cx="123444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6974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配置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69880" y="2697480"/>
            <a:ext cx="123444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26974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年配息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2990088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306324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Alphabet債 5.5%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990088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06324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15%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2990088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306324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B"/>
                </a:solidFill>
                <a:latin typeface="Calibri"/>
              </a:rPr>
              <a:t>NT$67.5萬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3465576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3538728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Meta債 5.5%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3465576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538728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15%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69880" y="3465576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3538728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B"/>
                </a:solidFill>
                <a:latin typeface="Calibri"/>
              </a:rPr>
              <a:t>NT$67.5萬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3941064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014216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PIMCO收益增長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3941064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4014216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15%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69880" y="3941064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69880" y="4014216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B"/>
                </a:solidFill>
                <a:latin typeface="Calibri"/>
              </a:rPr>
              <a:t>NT$67.5萬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4416552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448970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聯博美國收益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4416552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448970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10%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69880" y="4416552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69880" y="448970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B"/>
                </a:solidFill>
                <a:latin typeface="Calibri"/>
              </a:rPr>
              <a:t>NT$39.1萬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01000" y="4892040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01000" y="496519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施羅德環球收息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4892040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5440" y="496519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10%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69880" y="4892040"/>
            <a:ext cx="12344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69880" y="496519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B"/>
                </a:solidFill>
                <a:latin typeface="Calibri"/>
              </a:rPr>
              <a:t>NT$27.6萬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5367528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544068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其他配置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35440" y="5367528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35440" y="544068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3E"/>
                </a:solidFill>
                <a:latin typeface="Calibri"/>
              </a:rPr>
              <a:t>35%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69880" y="5367528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69880" y="544068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B"/>
                </a:solidFill>
                <a:latin typeface="Calibri"/>
              </a:rPr>
              <a:t>NT$18.8萬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5852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合計年配息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80" y="5852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A84B"/>
                </a:solidFill>
                <a:latin typeface="Calibri"/>
              </a:rPr>
              <a:t>NT$288萬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預期成果與績效分析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Expected Outcomes &amp;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C"/>
                </a:solidFill>
                <a:latin typeface="Calibri"/>
              </a:rPr>
              <a:t>© 2025 私人財富管理部門  |  本文件僅供內部提案使用，請勿外流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84B"/>
                </a:solidFill>
                <a:latin typeface="Calibri"/>
              </a:rPr>
              <a:t>7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48640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486400" cy="50800"/>
          </a:xfrm>
          <a:prstGeom prst="rect">
            <a:avLst/>
          </a:prstGeom>
          <a:solidFill>
            <a:srgbClr val="B0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C60"/>
                </a:solidFill>
                <a:latin typeface="Calibri"/>
              </a:rPr>
              <a:t>📌 目前配置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5394960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37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0"/>
                </a:solidFill>
                <a:latin typeface="Calibri"/>
              </a:rPr>
              <a:t>年化報酬率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37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44C60"/>
                </a:solidFill>
                <a:latin typeface="Calibri"/>
              </a:rPr>
              <a:t>≈ 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67128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21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0"/>
                </a:solidFill>
                <a:latin typeface="Calibri"/>
              </a:rPr>
              <a:t>年化波動率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21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44C60"/>
                </a:solidFill>
                <a:latin typeface="Calibri"/>
              </a:rPr>
              <a:t>≈ 4.0%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5394960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0"/>
                </a:solidFill>
                <a:latin typeface="Calibri"/>
              </a:rPr>
              <a:t>月均配息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44C60"/>
                </a:solidFill>
                <a:latin typeface="Calibri"/>
              </a:rPr>
              <a:t>NT$0 – 5萬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35224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0"/>
                </a:solidFill>
                <a:latin typeface="Calibri"/>
              </a:rPr>
              <a:t>美元資產比重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990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44C60"/>
                </a:solidFill>
                <a:latin typeface="Calibri"/>
              </a:rPr>
              <a:t>24%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19272"/>
            <a:ext cx="5394960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74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0"/>
                </a:solidFill>
                <a:latin typeface="Calibri"/>
              </a:rPr>
              <a:t>全球分散程度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3741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44C60"/>
                </a:solidFill>
                <a:latin typeface="Calibri"/>
              </a:rPr>
              <a:t>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234440"/>
            <a:ext cx="57607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234440"/>
            <a:ext cx="5760720" cy="508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✅ 建議配置後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783080"/>
            <a:ext cx="5669280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837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年化報酬率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837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3E"/>
                </a:solidFill>
                <a:latin typeface="Calibri"/>
              </a:rPr>
              <a:t>≈ 6.8%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18379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8A84B"/>
                </a:solidFill>
                <a:latin typeface="Calibri"/>
              </a:rPr>
              <a:t>▲ +4.3pp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167128"/>
            <a:ext cx="5669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221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年化波動率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221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3E"/>
                </a:solidFill>
                <a:latin typeface="Calibri"/>
              </a:rPr>
              <a:t>≈ 5.2%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221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8A84B"/>
                </a:solidFill>
                <a:latin typeface="Calibri"/>
              </a:rPr>
              <a:t>▲ +1.2pp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551176"/>
            <a:ext cx="5669280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月均配息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3E"/>
                </a:solidFill>
                <a:latin typeface="Calibri"/>
              </a:rPr>
              <a:t>NT$24萬+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8A84B"/>
                </a:solidFill>
                <a:latin typeface="Calibri"/>
              </a:rPr>
              <a:t>▲ +NT$19萬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935224"/>
            <a:ext cx="5669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990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美元資產比重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2990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3E"/>
                </a:solidFill>
                <a:latin typeface="Calibri"/>
              </a:rP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2990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8A84B"/>
                </a:solidFill>
                <a:latin typeface="Calibri"/>
              </a:rPr>
              <a:t>▲ +31pp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3319272"/>
            <a:ext cx="5669280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3741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全球分散程度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33741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3E"/>
                </a:solidFill>
                <a:latin typeface="Calibri"/>
              </a:rPr>
              <a:t>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33741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8A84B"/>
                </a:solidFill>
                <a:latin typeface="Calibri"/>
              </a:rPr>
              <a:t>大幅提升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84B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069080"/>
            <a:ext cx="116128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4069080"/>
            <a:ext cx="1161288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13308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5年資產成長預測（含配息再投入）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572000"/>
            <a:ext cx="190500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572000"/>
            <a:ext cx="190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225040" y="4572000"/>
            <a:ext cx="190500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5040" y="4572000"/>
            <a:ext cx="190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第1年末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0040" y="4572000"/>
            <a:ext cx="190500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30040" y="4572000"/>
            <a:ext cx="190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第2年末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572000"/>
            <a:ext cx="190500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35040" y="4572000"/>
            <a:ext cx="190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第3年末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40040" y="4572000"/>
            <a:ext cx="190500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40040" y="4572000"/>
            <a:ext cx="190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第4年末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45040" y="4572000"/>
            <a:ext cx="190500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45040" y="4572000"/>
            <a:ext cx="190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第5年末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919472"/>
            <a:ext cx="1905000" cy="43891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9926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保守情境 (4.5%)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25040" y="49194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5040" y="49926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5,225萬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0040" y="49194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30040" y="49926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5,461萬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49194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35040" y="49926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5,707萬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40040" y="49194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40040" y="49926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5,964萬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45040" y="49194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45040" y="49926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6,232萬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5376672"/>
            <a:ext cx="1905000" cy="43891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4498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基準情境 (6.8%)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25040" y="5376672"/>
            <a:ext cx="1905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25040" y="54498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5,340萬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30040" y="5376672"/>
            <a:ext cx="1905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30040" y="54498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5,703萬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5376672"/>
            <a:ext cx="1905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35040" y="54498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6,091萬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40040" y="5376672"/>
            <a:ext cx="1905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40040" y="54498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6,505萬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45040" y="5376672"/>
            <a:ext cx="1905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45040" y="54498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6,948萬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5833872"/>
            <a:ext cx="1905000" cy="43891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0040" y="59070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樂觀情境 (9.0%)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25040" y="58338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25040" y="59070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5,450萬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30040" y="58338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30040" y="59070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5,941萬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35040" y="58338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035040" y="59070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6,475萬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40040" y="58338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40040" y="59070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7,057萬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45040" y="5833872"/>
            <a:ext cx="19050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45040" y="5907024"/>
            <a:ext cx="190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7,692萬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560320"/>
            <a:ext cx="8229600" cy="254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下一步行動計劃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CB7A"/>
                </a:solidFill>
                <a:latin typeface="Calibri"/>
              </a:rPr>
              <a:t>Next Steps &amp; Implementation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34640"/>
            <a:ext cx="5303520" cy="150876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30352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確認投資意向書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CC"/>
                </a:solidFill>
                <a:latin typeface="Calibri"/>
              </a:rPr>
              <a:t>簽署 KYC 更新文件及投資意向確認書（預計 1 週內完成）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834640"/>
            <a:ext cx="5303520" cy="150876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834640"/>
            <a:ext cx="530352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完成開戶作業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CC"/>
                </a:solidFill>
                <a:latin typeface="Calibri"/>
              </a:rPr>
              <a:t>外匯帳戶開立 + 美元資金匯兌準備（預計 2 週）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26280"/>
            <a:ext cx="5303520" cy="150876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530352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分批建倉執行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CC"/>
                </a:solidFill>
                <a:latin typeface="Calibri"/>
              </a:rPr>
              <a:t>依市場時機分 2-3 批購入各標的，降低時間點風險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526280"/>
            <a:ext cx="5303520" cy="150876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526280"/>
            <a:ext cx="530352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定期績效回顧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40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CC"/>
                </a:solidFill>
                <a:latin typeface="Calibri"/>
              </a:rPr>
              <a:t>每季提供配息報告 + 每半年進行資產配置再平衡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914400"/>
            <a:ext cx="3566160" cy="5303520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914400"/>
            <a:ext cx="3566160" cy="381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84B"/>
                </a:solidFill>
                <a:latin typeface="Calibri"/>
              </a:rPr>
              <a:t>聯絡資訊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5087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理財顧問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8105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王○○ 副總裁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11226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4140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📞  02-2xxx-xxxx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7157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📧  advisor@bank.com.tw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0175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319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私人財富管理部門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6210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台北市信義區○○路100號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9227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2245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服務時間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526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週一至週五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8280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C"/>
                </a:solidFill>
                <a:latin typeface="Calibri"/>
              </a:rPr>
              <a:t>09:00 – 18:00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C"/>
                </a:solidFill>
                <a:latin typeface="Calibri"/>
              </a:rPr>
              <a:t>© 2025 私人財富管理部門  |  本文件僅供內部提案使用，請勿外流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84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